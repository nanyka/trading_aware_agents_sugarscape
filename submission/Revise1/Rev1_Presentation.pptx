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eo/o6Nz7ANHoDAtjrIRhOgdkV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Good morning, and thank you for taking the time to go through this with 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short deck walks through, point by point, how we answered the two reviewers on our Computational Economics submission. I will show you each concern, the exact wording before and after, and what we changed.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headline is on the screen. All eight of Reviewer 1's points are addressed. Five of Reviewer 2's six points are addressed. And there is one point — the training-seed question you spotted — that we could not fully close in the time available, so we have flagged it openly as a limitation. I will come back to that one at the end, because I would like your guidance on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Let me start with the big picture of what was actually wrong.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"Sugarscape" — a classic 1996 computer model of a tiny economy: agents live on a grid, collect two resources (sugar and spice), and trade with neighbours. It's a standard testbed in economics, so reviewers know it well.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Before I go point by point, it helps to see the single mistake underneath most of Reviewer 1's comments.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old paper said our agents 'jointly optimize movement and trade' using deep reinforcement learning. That sounds impressive — but it is not what our code does. Our policy only learns movement. The actual buying and selling is still done by the classical Sugarscape rule, Rule T. The reviewer noticed this immediately and, honestly, he was completely right.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So the fix was not to defend the old wording. The fix was to tell the truth about what we built: the agent learns WHERE TO GO, and it uses the trading signals of nearby agents — their marginal rates of substitution — to decide. The trade itself is unchanged.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 renamed the whole contribution 'trade-aware movement' and rewrote every sentence that over-claimed. This single honest reframing is what answers three of the reviewer's points at once — his points one, two, and four. The next slides show the exact wording changes.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"Rule T" — the original Sugarscape trading rule from 1996. When two agents stand next to each other, Rule T automatically works out a fair exchange price and swaps resources. It is fixed — nobody "learns" it. Our agents still use it unchanged.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"MRS — marginal rate of substitution" — an economics term for how much of one good a person will give up to get one unit of another. It signals who wants to trade and on what terms. Our agent can "see" its neighbours' MRS, which is what makes its movement trade-aware.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"policy" — in reinforcement learning, the agent's learned strategy: a rule that says, given what I see, what should I do. Here the policy only decides movement.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Point one. The reviewer said our framing over-claimed joint optimization.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 the left is the old abstract sentence — 'agents that learn to jointly optimize movement and exchange.' On the right is the new one — 'trade-aware agents whose movement policies are learned, and conditioned on the trade signals of neighbours; bilateral exchange follows the canonical Rule T; the policy learns where to be, not how to bargain.'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last phrase — 'where to be, not how to bargain' — is the whole paper in six words, and it is now honest.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 made this change everywhere: the abstract, the introduction, and the literature review. We also added a short new paragraph called 'Scope of Learning' that states plainly the policy cannot choose what, how much, or whether to trade. I searched the whole document; no 'jointly optimize' wording survives.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"joint optimization" — doing two things at once optimally. We wrongly claimed the agent optimizes BOTH movement and trading. It only optimizes movement. That word is what triggered the reviewer.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"MRS" — marginal rate of substitution: a signal of how keen a neighbour is to trade and at what rate (see slide 2). The agent observes it, so its movement is informed by trading opportunity.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"Rule T" — the fixed 1996 trading rule that executes the actual exchange; the agent does not learn it (see slide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Point two. The reviewer helpfully told us what our real contribution is: movement learning conditioned on trading-related state, while trade stays rule-based.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Our old contribution statement was vague — 'updating Sugarscape with adaptive learning' — which honestly overlaps with two earlier papers that already put reinforcement learning into Sugarscape.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So we took the reviewer's own sentence and made it our contribution. We now state three specific things: we add the market signal into what the agent sees; we run a clean, matched comparison of rule-based versus learned movement; and we offer the model as a laboratory for policy experiments. And in the literature review we now say exactly how we differ from the earlier papers — they learned movement using only resource information; we add the trading channel. The difference is now concrete, not vague.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"Rule M" — the original Sugarscape MOVEMENT rule: a simple, fixed recipe ("look around, step to the best nearby cell"). In our rule-based condition agents use Rule M; in our DRL condition the learned policy replaces Rule M. (Rule M = movement, Rule T = trading.)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"Brearcliffe &amp; Crooks / Jäger" — two earlier research papers that also put reinforcement learning into Sugarscape. We must show how we differ from them; our difference is that we feed market information into the agent's view.</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"observation" — everything the agent can "see" at each step; the inputs to its decision. We added market signals to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Point three is important, and it is the one that looks scary but was actually easy.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reviewer worried that our rule-based and learning conditions differed in many parameters at once, so any difference could not be attributed to the learning.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Here is the truth: the two conditions were ALWAYS run under identical settings. The problem was the table. Our old Table 1 had two columns — one labelled 'Baseline' showing the original 1996 Sugarscape numbers, and one labelled 'DRL extension' showing our numbers. Anyone reading it would think the rule-based and DRL agents used different parameters. They did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So we deleted that table and replaced it with a single column of the parameters we actually used, with a caption saying in bold that these apply to BOTH conditions and only the movement policy differs. We also added a clear sentence in the methods and again in the results. So this was a writing fix, not a re-run — but we had to make it unmistakable.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"confound / confounded" — when two things change at once so you can't tell which caused the result. The reviewer feared our two groups differed in many settings, so any difference couldn't be blamed on the learning alone.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"rule-based vs DRL condition" — our two groups being compared. Rule-based = agents move by the fixed recipe (Rule M). DRL = agents move by the learned policy. Everything else is identical.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"Epstein &amp; Axtell 1996" — the authors who invented Sugarscape. Their original settings are what our old table showed for reference — and what caused the confusion.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5" name="Google Shape;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These two are quick, so I have put them together.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Point four: the reviewer noticed two sentences that contradicted each other — one said agents 'learn trading strategies,' another said 'trading is not an explicit action.' Both could not be true. We fixed it by stating clearly that the action space is movement only, and trade is executed by Rule 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Point five is more technical. We had written that our observation 'ensures the Markov property.' In a multi-agent system that is not correct, because every agent's world keeps changing as the other agents learn. The reviewer was right. We reframed the problem properly as a decentralized POMDP, we acknowledged this non-stationarity openly, we cited the standard references, and we now describe parameter-sharing as a partial help rather than a solution. This is exactly the language the multi-agent RL literature uses.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"Markov property" — a technical assumption that "the current snapshot contains everything you need to decide the next step; history doesn't matter." We claimed our setup guarantees this. In a many-agent world it doesn't, because everyone is changing at once.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"Dec-POMDP" — decentralized partially-observable Markov decision process. In plain terms: many agents, each seeing only its local patch, each deciding for itself, with no central controller. It is the correct formal name for our situation. I don't need to define the acronym letter-by-letter unless he asks — the point is we now use the right, honest label.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"non-stationary" — the environment keeps shifting because the other agents are also learning and changing. That's why the simple Markov claim was wrong.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"action space" — the list of moves an agent is allowed to make. Ours contains movement directions only — no "trade" action.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0" name="Google Shape;1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Points six, seven and eight are all the same kind of request — 'make this definition precise' — so I will move through them together.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Point six: our description of what the agent sees was unclear and the reviewer suspected the dimensions were wrong. We now spell it out exactly — a cross-shaped view of 41 cells, four pieces of information each, plus six facts about the agent itself, giving a 170-number input. No more ambiguity.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Point seven: the reward function was under-specified and slightly inconsistent. We rewrote it as one clean equation, we named it honestly as an expected-utility heuristic, and we connected it to a known technique called potential-based reward shaping. We also defined the death penalty as a fixed setting.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Point eight: our price metric was not defined, and we claimed 'faster convergence.' We now define the metric formally, AND — this is the honest part — we narrowed the claim. What our graph really shows is that prices are more CONSISTENT across repeated runs, not that they converge faster. We rewrote the results to say only that.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"observation (170-dimensional)" — the bundle of numbers the agent sees each step. "Cross-shaped, 41 cells × 4 channels" means it looks along the four compass directions (not diagonally), and for each cell records four facts (sugar, spice, a value score, and the neighbour's trade signal). Plus 6 facts about itself. Total 170 numbers.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"reward function" — the score the agent is trying to maximize; it defines what "good behaviour" means. We rewrote ours to be one clean formula.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"potential-based reward shaping (Ng et al. 1999)" — a well-known, mathematically safe way of giving hints in the reward without accidentally changing what the agent ultimately learns. Citing it shows our reward is principled, not ad-hoc.</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"cumulative geometric mean price" — a way of averaging trade prices over time that suits multiplicative quantities like prices. The key point we now make honestly: our graph shows prices become more CONSISTENT across repeated runs, not necessarily faster.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8" name="Google Shape;13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Now Reviewer 2. His tone was more positive — he called the problem interesting and the economic intuition sound. His comments were mostly requests for stronger, more rigorous methods, and I was able to do most of them. Five of his six points are fully addressed. One — the training-seed point that you, Panu, specifically asked about — we handle honestly as a limitation, and I will spend real time on that one at the end.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(No new heavy jargon on this divider slide.) If he asks what makes Reviewer 2 different from Reviewer 1: Reviewer 1 focused on honesty of framing; Reviewer 2 focused on statistical rigour — better tests and measures. That's why the next slides are about methods.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Point three from Reviewer 2, and this one actually made the paper better.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He pointed out that comparing only the final population count throws away everything that happens during the episode, and he suggested a proper survival analysis — Kaplan–Meier curves with a log-rank test, the same tools medical researchers use for patient survival.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 did exactly that. We reconstructed how long every single agent lived from our step-by-step records, and built survival curves. The result is strong: agents under our learned policy live about 45% longer at the median, and the statistical test is overwhelmingly significant. Most importantly, it shows our advantage is present across the WHOLE episode, not just a lucky number at the final step. This is now Table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"Kaplan–Meier survival analysis" — a standard method (from medical research) for studying how long things "survive" over time, even when some are still alive at the end. Here, how long agents live during an episode. It uses the whole timeline, not just the final count.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"log-rank test" — the companion statistical test that asks: are these two survival curves genuinely different, or could it be chance? Our p-value is astronomically small, meaning the difference is real.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"median survival" — the time by which half the agents have died. Ours is about 45% longer, meaning our agents live noticeably longer.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"right-censored" — the technical term for agents still alive when the episode ends; the method handles them correctly instead of throwing them away.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1" name="Google Shape;1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Point four was about inequality, and it is where honesty matters most.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reviewer noted we relied only on the Gini coefficient, which is known to be weak for exactly the kind of fat-tailed wealth we have. He asked for better measures — Theil's T, or top wealth shares.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 added all of them. And they revealed something the Gini had hidden: on stable maps, our agents do compress the very top fortunes — good. But on random maps, they slightly WIDEN the top, because the learning keeps more high-need agents alive and those agents accumulate more. We report this both ways, openly, as a trade-off. We do not hide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He also asked a sharp question — is the Gini confounded because poor agents die first? When a large number of poor agents die in the virtual environment, the Gini coefficient becomes a misleading indicator of inequality. Although the society may still exhibit high inequality, the removal of poor agents from the population means that the Gini coefficient is calculated only over the surviving, wealthier agents. As a result, it underestimates the true extent of wealth disparity and may falsely suggest that inequality has decreased.</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 added a note </a:t>
            </a:r>
            <a:r>
              <a:rPr lang="en-US"/>
              <a:t>to explain it</a:t>
            </a:r>
            <a:r>
              <a:rPr lang="en-US" sz="1200">
                <a:solidFill>
                  <a:schemeClr val="dk1"/>
                </a:solidFill>
                <a:latin typeface="Calibri"/>
                <a:ea typeface="Calibri"/>
                <a:cs typeface="Calibri"/>
                <a:sym typeface="Calibri"/>
              </a:rPr>
              <a:t>, this filtering happens, but it actually works in our favour, because our policy keeps MORE agents alive, so our numbers are if anything conservative. That is now addressed directly in the text.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"Gini coefficient" — the most common single number for inequality: 0 = everyone equal, 1 = one person has everything. The reviewer's point: for very unequal, "fat-tailed" wealth, Gini barely moves and hides what's happening.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"Theil's T index" — an alternative inequality measure that is more sensitive to the very rich. It revealed the nuance the Gini hid.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"top-10% wealth share" — simply, what fraction of all wealth the richest 10% hold. Intuitive and tail-sensitive.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"KS test (Kolmogorov–Smirnov)" — a statistical test for whether two whole distributions differ. We use it to back the "thinner tail" claim with a number.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"fat-tailed / right-skewed" — a distribution where a few agents are extremely rich; the long tail on the right. Common in real wealth data.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"survivorship" — the caution that we only measure agents still alive, so the poorest (who died) drop out. We explain this works in our favour, not against.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5" name="Google Shape;19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Three smaller points from Reviewer 2, grouped together.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First, he noted our method shares one policy across all agents, which limits their individuality, and asked us to review a paper on an alternative called IPPO. We added a limitation, cited that paper, and flagged the alternative as future work.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Second, he did some arithmetic and showed our 'smooth convergence' claim looked overstated — the reward varied a lot. We explained that this variation is expected because we are averaging over five hundred quite different agents; it is not training instability. And we rested the convergence claim on the trend line and the entropy, not the raw spread.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Third, he felt our section on video-game applications over-claimed. He suggested removing it or cutting it to one careful sentence. We cut it to one sentence.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"parameter sharing" — all our agents run the SAME learned brain (one shared network). It's efficient but means agents can't become very individually different.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"IPPO (independent PPO)" — an alternative where each agent trains its OWN brain, allowing more individuality. The reviewer asked us to acknowledge it; we cite it as future work.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"PPO" — Proximal Policy Optimization, the specific popular algorithm we use to train the policy. Reliable and standard; the name is just which learning method we picked.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"de Witt (2020)" — the paper the reviewer pointed us to on this parameter-sharing question. We now cite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"coefficient of variation (CV)" — the spread (standard deviation) divided by the average. A CV over 140% means the reward numbers are very spread out; we explain that's because we average over 500 different agents, not because training is unstable.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"entropy" — a measure of how random the policy still is. It falling and settling is evidence the agent has finished learning and is behaving decisively.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9" name="Google Shape;21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This is the one I most want your guidance on, and it is the exact point you flagged in your email.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Reviewer 2 asked us to report results across at least five independent TRAINING runs with different seeds, to prove we did not just get lucky with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Here is the honest gap. Our fifty runs vary the ENVIRONMENT — the map layout — for ONE trained policy. That proves the policy works across different maps. But it does NOT prove that if we trained again from scratch we'd get a similarly good policy. Those are different questions, and he asked about the second one.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can't I just do it? Because training five policies from scratch takes about </a:t>
            </a:r>
            <a:r>
              <a:rPr lang="en-US"/>
              <a:t>ten</a:t>
            </a:r>
            <a:r>
              <a:rPr lang="en-US" sz="1200">
                <a:solidFill>
                  <a:schemeClr val="dk1"/>
                </a:solidFill>
                <a:latin typeface="Calibri"/>
                <a:ea typeface="Calibri"/>
                <a:cs typeface="Calibri"/>
                <a:sym typeface="Calibri"/>
              </a:rPr>
              <a:t> weeks of computer time, and the resubmission deadline is next week. It simply does not fit.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So my approach was: rather than leave the old wording, which could be read as if we HAD done multiple training runs, I rewrote the methods to say plainly — one trained policy, fifty environment seeds — and I added this as an open limitation and the number-one priority for future work.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My question for you is this. Do we submit now with that honest limitation and let the editor decide — which is my instinct — or would you prefer we ask the editor for a deadline extension so we can run the five seeds properly? I will do whichever you think is wiser.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 plain-language definitions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"training seed" — the random starting number that shapes ONE training run. Different seeds can produce different final policies. The reviewer wants us to train 5 times with 5 seeds to prove we didn't just get lucky once.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"environment seed" (what we varied) — the random number that lays out the map and agents when we TEST an already-trained policy. Our 50 of these show the policy works across many maps — but they don't test training luck. This distinction is the whole issue.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"generalizes across maps" — the policy still works when the resource layout changes; a good property, but a different question from training stability.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"wall-clock time" — real elapsed time on the computer. One training run is hours; five from scratch is about two weeks — more than we have before the deadline.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4" name="Google Shape;2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5" name="Shape 15"/>
        <p:cNvGrpSpPr/>
        <p:nvPr/>
      </p:nvGrpSpPr>
      <p:grpSpPr>
        <a:xfrm>
          <a:off x="0" y="0"/>
          <a:ext cx="0" cy="0"/>
          <a:chOff x="0" y="0"/>
          <a:chExt cx="0" cy="0"/>
        </a:xfrm>
      </p:grpSpPr>
      <p:sp>
        <p:nvSpPr>
          <p:cNvPr id="16" name="Google Shape;16;p1"/>
          <p:cNvSpPr/>
          <p:nvPr/>
        </p:nvSpPr>
        <p:spPr>
          <a:xfrm>
            <a:off x="731520" y="1737360"/>
            <a:ext cx="10058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8C9"/>
              </a:buClr>
              <a:buSzPts val="1400"/>
              <a:buFont typeface="Calibri"/>
              <a:buNone/>
            </a:pPr>
            <a:r>
              <a:rPr b="1" i="0" lang="en-US" sz="1400" u="none" cap="none" strike="noStrike">
                <a:solidFill>
                  <a:srgbClr val="7FA8C9"/>
                </a:solidFill>
                <a:latin typeface="Calibri"/>
                <a:ea typeface="Calibri"/>
                <a:cs typeface="Calibri"/>
                <a:sym typeface="Calibri"/>
              </a:rPr>
              <a:t>MANUSCRIPT REVISION — SUPERVISOR BRIEFING</a:t>
            </a:r>
            <a:endParaRPr b="0" i="0" sz="1400" u="none" cap="none" strike="noStrike">
              <a:solidFill>
                <a:schemeClr val="dk1"/>
              </a:solidFill>
              <a:latin typeface="Calibri"/>
              <a:ea typeface="Calibri"/>
              <a:cs typeface="Calibri"/>
              <a:sym typeface="Calibri"/>
            </a:endParaRPr>
          </a:p>
        </p:txBody>
      </p:sp>
      <p:sp>
        <p:nvSpPr>
          <p:cNvPr id="17" name="Google Shape;17;p1"/>
          <p:cNvSpPr/>
          <p:nvPr/>
        </p:nvSpPr>
        <p:spPr>
          <a:xfrm>
            <a:off x="731520" y="2194560"/>
            <a:ext cx="106984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Responding to the Reviewers</a:t>
            </a:r>
            <a:endParaRPr b="0" i="0" sz="4200" u="none" cap="none" strike="noStrike">
              <a:solidFill>
                <a:schemeClr val="dk1"/>
              </a:solidFill>
              <a:latin typeface="Calibri"/>
              <a:ea typeface="Calibri"/>
              <a:cs typeface="Calibri"/>
              <a:sym typeface="Calibri"/>
            </a:endParaRPr>
          </a:p>
        </p:txBody>
      </p:sp>
      <p:sp>
        <p:nvSpPr>
          <p:cNvPr id="18" name="Google Shape;18;p1"/>
          <p:cNvSpPr/>
          <p:nvPr/>
        </p:nvSpPr>
        <p:spPr>
          <a:xfrm>
            <a:off x="731520" y="3154680"/>
            <a:ext cx="10698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2200"/>
              <a:buFont typeface="Cambria"/>
              <a:buNone/>
            </a:pPr>
            <a:r>
              <a:rPr b="0" i="1" lang="en-US" sz="2200" u="none" cap="none" strike="noStrike">
                <a:solidFill>
                  <a:srgbClr val="CADCFC"/>
                </a:solidFill>
                <a:latin typeface="Cambria"/>
                <a:ea typeface="Cambria"/>
                <a:cs typeface="Cambria"/>
                <a:sym typeface="Cambria"/>
              </a:rPr>
              <a:t>Trading-Aware Agents in Sugarscape</a:t>
            </a:r>
            <a:endParaRPr b="0" i="0" sz="2200" u="none" cap="none" strike="noStrike">
              <a:solidFill>
                <a:schemeClr val="dk1"/>
              </a:solidFill>
              <a:latin typeface="Calibri"/>
              <a:ea typeface="Calibri"/>
              <a:cs typeface="Calibri"/>
              <a:sym typeface="Calibri"/>
            </a:endParaRPr>
          </a:p>
        </p:txBody>
      </p:sp>
      <p:sp>
        <p:nvSpPr>
          <p:cNvPr id="19" name="Google Shape;19;p1"/>
          <p:cNvSpPr/>
          <p:nvPr/>
        </p:nvSpPr>
        <p:spPr>
          <a:xfrm>
            <a:off x="731520" y="379476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400"/>
              <a:buFont typeface="Calibri"/>
              <a:buNone/>
            </a:pPr>
            <a:r>
              <a:rPr b="1" i="0" lang="en-US" sz="1400" u="none" cap="none" strike="noStrike">
                <a:solidFill>
                  <a:srgbClr val="CADCFC"/>
                </a:solidFill>
                <a:latin typeface="Calibri"/>
                <a:ea typeface="Calibri"/>
                <a:cs typeface="Calibri"/>
                <a:sym typeface="Calibri"/>
              </a:rPr>
              <a:t>Computational Economics</a:t>
            </a:r>
            <a:r>
              <a:rPr b="0" i="0" lang="en-US" sz="1400" u="none" cap="none" strike="noStrike">
                <a:solidFill>
                  <a:srgbClr val="CADCFC"/>
                </a:solidFill>
                <a:latin typeface="Calibri"/>
                <a:ea typeface="Calibri"/>
                <a:cs typeface="Calibri"/>
                <a:sym typeface="Calibri"/>
              </a:rPr>
              <a:t>   ·   Major Revision, Round 1   ·   point-by-point walkthrough</a:t>
            </a:r>
            <a:endParaRPr b="0" i="0" sz="1400" u="none" cap="none" strike="noStrike">
              <a:solidFill>
                <a:schemeClr val="dk1"/>
              </a:solidFill>
              <a:latin typeface="Calibri"/>
              <a:ea typeface="Calibri"/>
              <a:cs typeface="Calibri"/>
              <a:sym typeface="Calibri"/>
            </a:endParaRPr>
          </a:p>
        </p:txBody>
      </p:sp>
      <p:sp>
        <p:nvSpPr>
          <p:cNvPr id="20" name="Google Shape;20;p1"/>
          <p:cNvSpPr/>
          <p:nvPr/>
        </p:nvSpPr>
        <p:spPr>
          <a:xfrm>
            <a:off x="731520" y="4709160"/>
            <a:ext cx="3383280" cy="1417320"/>
          </a:xfrm>
          <a:prstGeom prst="roundRect">
            <a:avLst>
              <a:gd fmla="val 5161" name="adj"/>
            </a:avLst>
          </a:prstGeom>
          <a:solidFill>
            <a:srgbClr val="2C3569"/>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731520" y="4864608"/>
            <a:ext cx="338328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8 / 8</a:t>
            </a:r>
            <a:endParaRPr b="0" i="0" sz="4000" u="none" cap="none" strike="noStrike">
              <a:solidFill>
                <a:schemeClr val="dk1"/>
              </a:solidFill>
              <a:latin typeface="Calibri"/>
              <a:ea typeface="Calibri"/>
              <a:cs typeface="Calibri"/>
              <a:sym typeface="Calibri"/>
            </a:endParaRPr>
          </a:p>
        </p:txBody>
      </p:sp>
      <p:sp>
        <p:nvSpPr>
          <p:cNvPr id="22" name="Google Shape;22;p1"/>
          <p:cNvSpPr/>
          <p:nvPr/>
        </p:nvSpPr>
        <p:spPr>
          <a:xfrm>
            <a:off x="914400" y="5559552"/>
            <a:ext cx="3017520"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Reviewer 1 points addressed</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4389120" y="4709160"/>
            <a:ext cx="3383280" cy="1417320"/>
          </a:xfrm>
          <a:prstGeom prst="roundRect">
            <a:avLst>
              <a:gd fmla="val 5161" name="adj"/>
            </a:avLst>
          </a:prstGeom>
          <a:solidFill>
            <a:srgbClr val="2C3569"/>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4389120" y="4864608"/>
            <a:ext cx="338328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5 / 6</a:t>
            </a:r>
            <a:endParaRPr b="0" i="0" sz="4000" u="none" cap="none" strike="noStrike">
              <a:solidFill>
                <a:schemeClr val="dk1"/>
              </a:solidFill>
              <a:latin typeface="Calibri"/>
              <a:ea typeface="Calibri"/>
              <a:cs typeface="Calibri"/>
              <a:sym typeface="Calibri"/>
            </a:endParaRPr>
          </a:p>
        </p:txBody>
      </p:sp>
      <p:sp>
        <p:nvSpPr>
          <p:cNvPr id="25" name="Google Shape;25;p1"/>
          <p:cNvSpPr/>
          <p:nvPr/>
        </p:nvSpPr>
        <p:spPr>
          <a:xfrm>
            <a:off x="4572000" y="5559552"/>
            <a:ext cx="3017520"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Reviewer 2 points addressed</a:t>
            </a:r>
            <a:endParaRPr b="0" i="0" sz="1200" u="none" cap="none" strike="noStrike">
              <a:solidFill>
                <a:schemeClr val="dk1"/>
              </a:solidFill>
              <a:latin typeface="Calibri"/>
              <a:ea typeface="Calibri"/>
              <a:cs typeface="Calibri"/>
              <a:sym typeface="Calibri"/>
            </a:endParaRPr>
          </a:p>
        </p:txBody>
      </p:sp>
      <p:sp>
        <p:nvSpPr>
          <p:cNvPr id="26" name="Google Shape;26;p1"/>
          <p:cNvSpPr/>
          <p:nvPr/>
        </p:nvSpPr>
        <p:spPr>
          <a:xfrm>
            <a:off x="8046720" y="4709160"/>
            <a:ext cx="3383280" cy="1417320"/>
          </a:xfrm>
          <a:prstGeom prst="roundRect">
            <a:avLst>
              <a:gd fmla="val 5161" name="adj"/>
            </a:avLst>
          </a:prstGeom>
          <a:solidFill>
            <a:srgbClr val="2C3569"/>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8046720" y="4864608"/>
            <a:ext cx="338328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1</a:t>
            </a:r>
            <a:endParaRPr b="0" i="0" sz="4000" u="none" cap="none" strike="noStrike">
              <a:solidFill>
                <a:schemeClr val="dk1"/>
              </a:solidFill>
              <a:latin typeface="Calibri"/>
              <a:ea typeface="Calibri"/>
              <a:cs typeface="Calibri"/>
              <a:sym typeface="Calibri"/>
            </a:endParaRPr>
          </a:p>
        </p:txBody>
      </p:sp>
      <p:sp>
        <p:nvSpPr>
          <p:cNvPr id="28" name="Google Shape;28;p1"/>
          <p:cNvSpPr/>
          <p:nvPr/>
        </p:nvSpPr>
        <p:spPr>
          <a:xfrm>
            <a:off x="8229600" y="5559552"/>
            <a:ext cx="3017520"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point openly flagged as a limitation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2"/>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THE CORE ISSUE BEHIND REVIEWER 1</a:t>
            </a:r>
            <a:endParaRPr b="0" i="0" sz="1300" u="none" cap="none" strike="noStrike">
              <a:solidFill>
                <a:schemeClr val="dk1"/>
              </a:solidFill>
              <a:latin typeface="Calibri"/>
              <a:ea typeface="Calibri"/>
              <a:cs typeface="Calibri"/>
              <a:sym typeface="Calibri"/>
            </a:endParaRPr>
          </a:p>
        </p:txBody>
      </p:sp>
      <p:sp>
        <p:nvSpPr>
          <p:cNvPr id="35" name="Google Shape;35;p2"/>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One framing mistake caused several of the comments</a:t>
            </a:r>
            <a:endParaRPr b="0" i="0" sz="2900" u="none" cap="none" strike="noStrike">
              <a:solidFill>
                <a:schemeClr val="dk1"/>
              </a:solidFill>
              <a:latin typeface="Calibri"/>
              <a:ea typeface="Calibri"/>
              <a:cs typeface="Calibri"/>
              <a:sym typeface="Calibri"/>
            </a:endParaRPr>
          </a:p>
        </p:txBody>
      </p:sp>
      <p:sp>
        <p:nvSpPr>
          <p:cNvPr id="36" name="Google Shape;36;p2"/>
          <p:cNvSpPr/>
          <p:nvPr/>
        </p:nvSpPr>
        <p:spPr>
          <a:xfrm>
            <a:off x="548640" y="1554480"/>
            <a:ext cx="11064240" cy="1371600"/>
          </a:xfrm>
          <a:prstGeom prst="roundRect">
            <a:avLst>
              <a:gd fmla="val 5333" name="adj"/>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822960" y="1554480"/>
            <a:ext cx="10515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A1A1A"/>
              </a:buClr>
              <a:buSzPts val="1550"/>
              <a:buFont typeface="Calibri"/>
              <a:buNone/>
            </a:pPr>
            <a:r>
              <a:rPr b="0" i="0" lang="en-US" sz="1550" u="none" cap="none" strike="noStrike">
                <a:solidFill>
                  <a:srgbClr val="1A1A1A"/>
                </a:solidFill>
                <a:latin typeface="Calibri"/>
                <a:ea typeface="Calibri"/>
                <a:cs typeface="Calibri"/>
                <a:sym typeface="Calibri"/>
              </a:rPr>
              <a:t>The old manuscript claimed the agents </a:t>
            </a:r>
            <a:r>
              <a:rPr b="1" i="0" lang="en-US" sz="1550" u="none" cap="none" strike="noStrike">
                <a:solidFill>
                  <a:srgbClr val="C0392B"/>
                </a:solidFill>
                <a:latin typeface="Calibri"/>
                <a:ea typeface="Calibri"/>
                <a:cs typeface="Calibri"/>
                <a:sym typeface="Calibri"/>
              </a:rPr>
              <a:t>“jointly optimize movement AND trade”</a:t>
            </a:r>
            <a:r>
              <a:rPr b="0" i="0" lang="en-US" sz="1550" u="none" cap="none" strike="noStrike">
                <a:solidFill>
                  <a:srgbClr val="1A1A1A"/>
                </a:solidFill>
                <a:latin typeface="Calibri"/>
                <a:ea typeface="Calibri"/>
                <a:cs typeface="Calibri"/>
                <a:sym typeface="Calibri"/>
              </a:rPr>
              <a:t> using deep RL.</a:t>
            </a:r>
            <a:endParaRPr b="0" i="0" sz="15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1A1A"/>
              </a:buClr>
              <a:buSzPts val="1550"/>
              <a:buFont typeface="Calibri"/>
              <a:buNone/>
            </a:pPr>
            <a:r>
              <a:rPr b="0" i="0" lang="en-US" sz="1550" u="none" cap="none" strike="noStrike">
                <a:solidFill>
                  <a:srgbClr val="1A1A1A"/>
                </a:solidFill>
                <a:latin typeface="Calibri"/>
                <a:ea typeface="Calibri"/>
                <a:cs typeface="Calibri"/>
                <a:sym typeface="Calibri"/>
              </a:rPr>
              <a:t>But in the code, the policy only learns </a:t>
            </a:r>
            <a:endParaRPr b="0" i="0" sz="15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A1A1A"/>
              </a:buClr>
              <a:buSzPts val="1550"/>
              <a:buFont typeface="Calibri"/>
              <a:buNone/>
            </a:pPr>
            <a:r>
              <a:rPr b="1" i="0" lang="en-US" sz="1550" u="none" cap="none" strike="noStrike">
                <a:solidFill>
                  <a:srgbClr val="1A1A1A"/>
                </a:solidFill>
                <a:latin typeface="Calibri"/>
                <a:ea typeface="Calibri"/>
                <a:cs typeface="Calibri"/>
                <a:sym typeface="Calibri"/>
              </a:rPr>
              <a:t>movement</a:t>
            </a:r>
            <a:r>
              <a:rPr b="0" i="0" lang="en-US" sz="1550" u="none" cap="none" strike="noStrike">
                <a:solidFill>
                  <a:srgbClr val="1A1A1A"/>
                </a:solidFill>
                <a:latin typeface="Calibri"/>
                <a:ea typeface="Calibri"/>
                <a:cs typeface="Calibri"/>
                <a:sym typeface="Calibri"/>
              </a:rPr>
              <a:t>. Trade is still done by the classical Rule T. The reviewer caught this exactly.</a:t>
            </a:r>
            <a:endParaRPr b="0" i="0" sz="1550" u="none" cap="none" strike="noStrike">
              <a:solidFill>
                <a:schemeClr val="dk1"/>
              </a:solidFill>
              <a:latin typeface="Calibri"/>
              <a:ea typeface="Calibri"/>
              <a:cs typeface="Calibri"/>
              <a:sym typeface="Calibri"/>
            </a:endParaRPr>
          </a:p>
        </p:txBody>
      </p:sp>
      <p:sp>
        <p:nvSpPr>
          <p:cNvPr id="38" name="Google Shape;38;p2"/>
          <p:cNvSpPr/>
          <p:nvPr/>
        </p:nvSpPr>
        <p:spPr>
          <a:xfrm>
            <a:off x="548640" y="3200400"/>
            <a:ext cx="5394960" cy="1828800"/>
          </a:xfrm>
          <a:prstGeom prst="roundRect">
            <a:avLst>
              <a:gd fmla="val 4000" name="adj"/>
            </a:avLst>
          </a:prstGeom>
          <a:solidFill>
            <a:srgbClr val="FBEDEC"/>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31520" y="3337560"/>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What the paper SAID</a:t>
            </a:r>
            <a:endParaRPr b="0" i="0" sz="1200" u="none" cap="none" strike="noStrike">
              <a:solidFill>
                <a:schemeClr val="dk1"/>
              </a:solidFill>
              <a:latin typeface="Calibri"/>
              <a:ea typeface="Calibri"/>
              <a:cs typeface="Calibri"/>
              <a:sym typeface="Calibri"/>
            </a:endParaRPr>
          </a:p>
        </p:txBody>
      </p:sp>
      <p:sp>
        <p:nvSpPr>
          <p:cNvPr id="40" name="Google Shape;40;p2"/>
          <p:cNvSpPr/>
          <p:nvPr/>
        </p:nvSpPr>
        <p:spPr>
          <a:xfrm>
            <a:off x="731520" y="3703320"/>
            <a:ext cx="50292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1A"/>
              </a:buClr>
              <a:buSzPts val="1400"/>
              <a:buFont typeface="Calibri"/>
              <a:buNone/>
            </a:pPr>
            <a:r>
              <a:rPr b="0" i="1" lang="en-US" sz="1400" u="none" cap="none" strike="noStrike">
                <a:solidFill>
                  <a:srgbClr val="1A1A1A"/>
                </a:solidFill>
                <a:latin typeface="Calibri"/>
                <a:ea typeface="Calibri"/>
                <a:cs typeface="Calibri"/>
                <a:sym typeface="Calibri"/>
              </a:rPr>
              <a:t>Agents learn to jointly optimize movement and exchange — a fully learned trading economy.</a:t>
            </a:r>
            <a:endParaRPr b="0" i="0" sz="1400" u="none" cap="none" strike="noStrike">
              <a:solidFill>
                <a:schemeClr val="dk1"/>
              </a:solidFill>
              <a:latin typeface="Calibri"/>
              <a:ea typeface="Calibri"/>
              <a:cs typeface="Calibri"/>
              <a:sym typeface="Calibri"/>
            </a:endParaRPr>
          </a:p>
        </p:txBody>
      </p:sp>
      <p:sp>
        <p:nvSpPr>
          <p:cNvPr id="41" name="Google Shape;41;p2"/>
          <p:cNvSpPr/>
          <p:nvPr/>
        </p:nvSpPr>
        <p:spPr>
          <a:xfrm>
            <a:off x="6217920" y="3200400"/>
            <a:ext cx="5394960" cy="1828800"/>
          </a:xfrm>
          <a:prstGeom prst="roundRect">
            <a:avLst>
              <a:gd fmla="val 400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400800" y="3337560"/>
            <a:ext cx="5029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7A46"/>
              </a:buClr>
              <a:buSzPts val="1200"/>
              <a:buFont typeface="Calibri"/>
              <a:buNone/>
            </a:pPr>
            <a:r>
              <a:rPr b="1" i="0" lang="en-US" sz="1200" u="none" cap="none" strike="noStrike">
                <a:solidFill>
                  <a:srgbClr val="1E7A46"/>
                </a:solidFill>
                <a:latin typeface="Calibri"/>
                <a:ea typeface="Calibri"/>
                <a:cs typeface="Calibri"/>
                <a:sym typeface="Calibri"/>
              </a:rPr>
              <a:t>What the code DOES</a:t>
            </a:r>
            <a:endParaRPr b="0" i="0" sz="1200" u="none" cap="none" strike="noStrike">
              <a:solidFill>
                <a:schemeClr val="dk1"/>
              </a:solidFill>
              <a:latin typeface="Calibri"/>
              <a:ea typeface="Calibri"/>
              <a:cs typeface="Calibri"/>
              <a:sym typeface="Calibri"/>
            </a:endParaRPr>
          </a:p>
        </p:txBody>
      </p:sp>
      <p:sp>
        <p:nvSpPr>
          <p:cNvPr id="43" name="Google Shape;43;p2"/>
          <p:cNvSpPr/>
          <p:nvPr/>
        </p:nvSpPr>
        <p:spPr>
          <a:xfrm>
            <a:off x="6400800" y="3703320"/>
            <a:ext cx="50292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A1A1A"/>
              </a:buClr>
              <a:buSzPts val="1400"/>
              <a:buFont typeface="Calibri"/>
              <a:buNone/>
            </a:pPr>
            <a:r>
              <a:rPr b="0" i="0" lang="en-US" sz="1400" u="none" cap="none" strike="noStrike">
                <a:solidFill>
                  <a:srgbClr val="1A1A1A"/>
                </a:solidFill>
                <a:latin typeface="Calibri"/>
                <a:ea typeface="Calibri"/>
                <a:cs typeface="Calibri"/>
                <a:sym typeface="Calibri"/>
              </a:rPr>
              <a:t>The policy learns WHERE TO MOVE, using neighbours' trade signals (MRS). Trade itself stays on the classical Rule T.</a:t>
            </a:r>
            <a:endParaRPr b="0" i="0" sz="1400" u="none" cap="none" strike="noStrike">
              <a:solidFill>
                <a:schemeClr val="dk1"/>
              </a:solidFill>
              <a:latin typeface="Calibri"/>
              <a:ea typeface="Calibri"/>
              <a:cs typeface="Calibri"/>
              <a:sym typeface="Calibri"/>
            </a:endParaRPr>
          </a:p>
        </p:txBody>
      </p:sp>
      <p:sp>
        <p:nvSpPr>
          <p:cNvPr id="44" name="Google Shape;44;p2"/>
          <p:cNvSpPr/>
          <p:nvPr/>
        </p:nvSpPr>
        <p:spPr>
          <a:xfrm>
            <a:off x="548640" y="5257800"/>
            <a:ext cx="11064240" cy="868680"/>
          </a:xfrm>
          <a:prstGeom prst="roundRect">
            <a:avLst>
              <a:gd fmla="val 6316"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777240" y="5257800"/>
            <a:ext cx="106070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FB4CC"/>
              </a:buClr>
              <a:buSzPts val="1100"/>
              <a:buFont typeface="Calibri"/>
              <a:buNone/>
            </a:pPr>
            <a:r>
              <a:rPr b="1" i="0" lang="en-US" sz="1100" u="none" cap="none" strike="noStrike">
                <a:solidFill>
                  <a:srgbClr val="9FB4CC"/>
                </a:solidFill>
                <a:latin typeface="Calibri"/>
                <a:ea typeface="Calibri"/>
                <a:cs typeface="Calibri"/>
                <a:sym typeface="Calibri"/>
              </a:rPr>
              <a:t>WHAT WE DID   </a:t>
            </a:r>
            <a:r>
              <a:rPr b="0" i="0" lang="en-US" sz="1350" u="none" cap="none" strike="noStrike">
                <a:solidFill>
                  <a:srgbClr val="FFFFFF"/>
                </a:solidFill>
                <a:latin typeface="Calibri"/>
                <a:ea typeface="Calibri"/>
                <a:cs typeface="Calibri"/>
                <a:sym typeface="Calibri"/>
              </a:rPr>
              <a:t>We renamed the whole contribution as “trade-aware movement” and rewrote every over-claiming sentence to match the code. This one fix answers R1 points 1, 2 and 4 together.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3"/>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1 · POINT 1</a:t>
            </a:r>
            <a:endParaRPr b="0" i="0" sz="1300" u="none" cap="none" strike="noStrike">
              <a:solidFill>
                <a:schemeClr val="dk1"/>
              </a:solidFill>
              <a:latin typeface="Calibri"/>
              <a:ea typeface="Calibri"/>
              <a:cs typeface="Calibri"/>
              <a:sym typeface="Calibri"/>
            </a:endParaRPr>
          </a:p>
        </p:txBody>
      </p:sp>
      <p:sp>
        <p:nvSpPr>
          <p:cNvPr id="52" name="Google Shape;52;p3"/>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Framing over-claimed “joint optimization”</a:t>
            </a:r>
            <a:endParaRPr b="0" i="0" sz="2900" u="none" cap="none" strike="noStrike">
              <a:solidFill>
                <a:schemeClr val="dk1"/>
              </a:solidFill>
              <a:latin typeface="Calibri"/>
              <a:ea typeface="Calibri"/>
              <a:cs typeface="Calibri"/>
              <a:sym typeface="Calibri"/>
            </a:endParaRPr>
          </a:p>
        </p:txBody>
      </p:sp>
      <p:sp>
        <p:nvSpPr>
          <p:cNvPr id="53" name="Google Shape;53;p3"/>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R1.1</a:t>
            </a:r>
            <a:endParaRPr b="0" i="0" sz="1200" u="none" cap="none" strike="noStrike">
              <a:solidFill>
                <a:schemeClr val="dk1"/>
              </a:solidFill>
              <a:latin typeface="Calibri"/>
              <a:ea typeface="Calibri"/>
              <a:cs typeface="Calibri"/>
              <a:sym typeface="Calibri"/>
            </a:endParaRPr>
          </a:p>
        </p:txBody>
      </p:sp>
      <p:sp>
        <p:nvSpPr>
          <p:cNvPr id="54" name="Google Shape;54;p3"/>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56" name="Google Shape;56;p3"/>
          <p:cNvSpPr/>
          <p:nvPr/>
        </p:nvSpPr>
        <p:spPr>
          <a:xfrm>
            <a:off x="548640" y="1481328"/>
            <a:ext cx="11064240" cy="841248"/>
          </a:xfrm>
          <a:prstGeom prst="rect">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731520" y="1481328"/>
            <a:ext cx="1069848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00"/>
              <a:buFont typeface="Calibri"/>
              <a:buNone/>
            </a:pPr>
            <a:r>
              <a:rPr b="1" i="0" lang="en-US" sz="1100" u="none" cap="none" strike="noStrike">
                <a:solidFill>
                  <a:srgbClr val="065A82"/>
                </a:solidFill>
                <a:latin typeface="Calibri"/>
                <a:ea typeface="Calibri"/>
                <a:cs typeface="Calibri"/>
                <a:sym typeface="Calibri"/>
              </a:rPr>
              <a:t>REVIEWER'S CONCERN   </a:t>
            </a:r>
            <a:r>
              <a:rPr b="0" i="1" lang="en-US" sz="1300" u="none" cap="none" strike="noStrike">
                <a:solidFill>
                  <a:srgbClr val="1A1A1A"/>
                </a:solidFill>
                <a:latin typeface="Calibri"/>
                <a:ea typeface="Calibri"/>
                <a:cs typeface="Calibri"/>
                <a:sym typeface="Calibri"/>
              </a:rPr>
              <a:t>“The framing suggests jointly optimizing movement and exchange, but the design is movement-only learning + exogenous trading.”</a:t>
            </a:r>
            <a:endParaRPr b="0" i="0" sz="1100" u="none" cap="none" strike="noStrike">
              <a:solidFill>
                <a:schemeClr val="dk1"/>
              </a:solidFill>
              <a:latin typeface="Calibri"/>
              <a:ea typeface="Calibri"/>
              <a:cs typeface="Calibri"/>
              <a:sym typeface="Calibri"/>
            </a:endParaRPr>
          </a:p>
        </p:txBody>
      </p:sp>
      <p:sp>
        <p:nvSpPr>
          <p:cNvPr id="58" name="Google Shape;58;p3"/>
          <p:cNvSpPr/>
          <p:nvPr/>
        </p:nvSpPr>
        <p:spPr>
          <a:xfrm>
            <a:off x="548640" y="2606040"/>
            <a:ext cx="5257800" cy="2331720"/>
          </a:xfrm>
          <a:prstGeom prst="roundRect">
            <a:avLst>
              <a:gd fmla="val 3137" name="adj"/>
            </a:avLst>
          </a:prstGeom>
          <a:solidFill>
            <a:srgbClr val="FBEDEC"/>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7315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60" name="Google Shape;60;p3"/>
          <p:cNvSpPr/>
          <p:nvPr/>
        </p:nvSpPr>
        <p:spPr>
          <a:xfrm>
            <a:off x="3429000" y="2715768"/>
            <a:ext cx="21945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0392B"/>
              </a:buClr>
              <a:buSzPts val="1050"/>
              <a:buFont typeface="Calibri"/>
              <a:buNone/>
            </a:pPr>
            <a:r>
              <a:rPr b="1" i="1" lang="en-US" sz="1050" u="none" cap="none" strike="noStrike">
                <a:solidFill>
                  <a:srgbClr val="C0392B"/>
                </a:solidFill>
                <a:latin typeface="Calibri"/>
                <a:ea typeface="Calibri"/>
                <a:cs typeface="Calibri"/>
                <a:sym typeface="Calibri"/>
              </a:rPr>
              <a:t>v1 p.1 · Abstract</a:t>
            </a:r>
            <a:endParaRPr b="0" i="0" sz="1050" u="none" cap="none" strike="noStrike">
              <a:solidFill>
                <a:schemeClr val="dk1"/>
              </a:solidFill>
              <a:latin typeface="Calibri"/>
              <a:ea typeface="Calibri"/>
              <a:cs typeface="Calibri"/>
              <a:sym typeface="Calibri"/>
            </a:endParaRPr>
          </a:p>
        </p:txBody>
      </p:sp>
      <p:sp>
        <p:nvSpPr>
          <p:cNvPr id="61" name="Google Shape;61;p3"/>
          <p:cNvSpPr/>
          <p:nvPr/>
        </p:nvSpPr>
        <p:spPr>
          <a:xfrm>
            <a:off x="731520" y="3063240"/>
            <a:ext cx="489204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1" lang="en-US" sz="1250" u="none" cap="none" strike="noStrike">
                <a:solidFill>
                  <a:srgbClr val="1A1A1A"/>
                </a:solidFill>
                <a:latin typeface="Calibri"/>
                <a:ea typeface="Calibri"/>
                <a:cs typeface="Calibri"/>
                <a:sym typeface="Calibri"/>
              </a:rPr>
              <a:t>“…trading-aware agents that learn to jointly optimize movement and exchange using Deep Reinforcement Learning.”</a:t>
            </a:r>
            <a:endParaRPr b="0" i="0" sz="125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1A1A1A"/>
              </a:buClr>
              <a:buSzPts val="1250"/>
              <a:buFont typeface="Calibri"/>
              <a:buNone/>
            </a:pPr>
            <a:r>
              <a:rPr b="0" i="1" lang="en-US" sz="1250" u="none" cap="none" strike="noStrike">
                <a:solidFill>
                  <a:srgbClr val="1A1A1A"/>
                </a:solidFill>
                <a:latin typeface="Calibri"/>
                <a:ea typeface="Calibri"/>
                <a:cs typeface="Calibri"/>
                <a:sym typeface="Calibri"/>
              </a:rPr>
              <a:t>(abstract, old version)</a:t>
            </a:r>
            <a:endParaRPr b="0" i="0" sz="1250" u="none" cap="none" strike="noStrike">
              <a:solidFill>
                <a:schemeClr val="dk1"/>
              </a:solidFill>
              <a:latin typeface="Calibri"/>
              <a:ea typeface="Calibri"/>
              <a:cs typeface="Calibri"/>
              <a:sym typeface="Calibri"/>
            </a:endParaRPr>
          </a:p>
        </p:txBody>
      </p:sp>
      <p:sp>
        <p:nvSpPr>
          <p:cNvPr id="62" name="Google Shape;62;p3"/>
          <p:cNvSpPr/>
          <p:nvPr/>
        </p:nvSpPr>
        <p:spPr>
          <a:xfrm>
            <a:off x="5824728" y="3451860"/>
            <a:ext cx="685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7293"/>
              </a:buClr>
              <a:buSzPts val="3000"/>
              <a:buFont typeface="Calibri"/>
              <a:buNone/>
            </a:pPr>
            <a:r>
              <a:rPr b="1" i="0" lang="en-US" sz="3000" u="none" cap="none" strike="noStrike">
                <a:solidFill>
                  <a:srgbClr val="1C7293"/>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63" name="Google Shape;63;p3"/>
          <p:cNvSpPr/>
          <p:nvPr/>
        </p:nvSpPr>
        <p:spPr>
          <a:xfrm>
            <a:off x="6492240" y="2606040"/>
            <a:ext cx="5257800" cy="2331720"/>
          </a:xfrm>
          <a:prstGeom prst="roundRect">
            <a:avLst>
              <a:gd fmla="val 3137"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66751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7A46"/>
              </a:buClr>
              <a:buSzPts val="1100"/>
              <a:buFont typeface="Calibri"/>
              <a:buNone/>
            </a:pPr>
            <a:r>
              <a:rPr b="1" i="0" lang="en-US" sz="1100" u="none" cap="none" strike="noStrike">
                <a:solidFill>
                  <a:srgbClr val="1E7A46"/>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65" name="Google Shape;65;p3"/>
          <p:cNvSpPr/>
          <p:nvPr/>
        </p:nvSpPr>
        <p:spPr>
          <a:xfrm>
            <a:off x="9555480" y="2715768"/>
            <a:ext cx="20116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E7A46"/>
              </a:buClr>
              <a:buSzPts val="1050"/>
              <a:buFont typeface="Calibri"/>
              <a:buNone/>
            </a:pPr>
            <a:r>
              <a:rPr b="1" i="1" lang="en-US" sz="1050" u="none" cap="none" strike="noStrike">
                <a:solidFill>
                  <a:srgbClr val="1E7A46"/>
                </a:solidFill>
                <a:latin typeface="Calibri"/>
                <a:ea typeface="Calibri"/>
                <a:cs typeface="Calibri"/>
                <a:sym typeface="Calibri"/>
              </a:rPr>
              <a:t>v2 p.1 · Abstract</a:t>
            </a:r>
            <a:endParaRPr b="0" i="0" sz="1050" u="none" cap="none" strike="noStrike">
              <a:solidFill>
                <a:schemeClr val="dk1"/>
              </a:solidFill>
              <a:latin typeface="Calibri"/>
              <a:ea typeface="Calibri"/>
              <a:cs typeface="Calibri"/>
              <a:sym typeface="Calibri"/>
            </a:endParaRPr>
          </a:p>
        </p:txBody>
      </p:sp>
      <p:sp>
        <p:nvSpPr>
          <p:cNvPr id="66" name="Google Shape;66;p3"/>
          <p:cNvSpPr/>
          <p:nvPr/>
        </p:nvSpPr>
        <p:spPr>
          <a:xfrm>
            <a:off x="6675120" y="3063240"/>
            <a:ext cx="489204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“…trade-aware agents whose movement policies are learned with DRL and conditioned on the MRS of neighbours. Bilateral exchange follows the canonical Rule T; the policy learns where to be, not how to bargain.”</a:t>
            </a:r>
            <a:endParaRPr b="0" i="0" sz="1250" u="none" cap="none" strike="noStrike">
              <a:solidFill>
                <a:schemeClr val="dk1"/>
              </a:solidFill>
              <a:latin typeface="Calibri"/>
              <a:ea typeface="Calibri"/>
              <a:cs typeface="Calibri"/>
              <a:sym typeface="Calibri"/>
            </a:endParaRPr>
          </a:p>
        </p:txBody>
      </p:sp>
      <p:sp>
        <p:nvSpPr>
          <p:cNvPr id="67" name="Google Shape;67;p3"/>
          <p:cNvSpPr/>
          <p:nvPr/>
        </p:nvSpPr>
        <p:spPr>
          <a:xfrm>
            <a:off x="548640" y="5257800"/>
            <a:ext cx="11064240" cy="868680"/>
          </a:xfrm>
          <a:prstGeom prst="roundRect">
            <a:avLst>
              <a:gd fmla="val 6316"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777240" y="5257800"/>
            <a:ext cx="106070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FB4CC"/>
              </a:buClr>
              <a:buSzPts val="1100"/>
              <a:buFont typeface="Calibri"/>
              <a:buNone/>
            </a:pPr>
            <a:r>
              <a:rPr b="1" i="0" lang="en-US" sz="1100" u="none" cap="none" strike="noStrike">
                <a:solidFill>
                  <a:srgbClr val="9FB4CC"/>
                </a:solidFill>
                <a:latin typeface="Calibri"/>
                <a:ea typeface="Calibri"/>
                <a:cs typeface="Calibri"/>
                <a:sym typeface="Calibri"/>
              </a:rPr>
              <a:t>WHAT WE DID   </a:t>
            </a:r>
            <a:r>
              <a:rPr b="0" i="0" lang="en-US" sz="1350" u="none" cap="none" strike="noStrike">
                <a:solidFill>
                  <a:srgbClr val="FFFFFF"/>
                </a:solidFill>
                <a:latin typeface="Calibri"/>
                <a:ea typeface="Calibri"/>
                <a:cs typeface="Calibri"/>
                <a:sym typeface="Calibri"/>
              </a:rPr>
              <a:t>Rewrote the abstract, introduction and §2.1–2.4; added a “Scope of Learning” paragraph stating the policy has no control over trade. No “jointly optimize” language remains anywhere.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4"/>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1 · POINT 2</a:t>
            </a:r>
            <a:endParaRPr b="0" i="0" sz="1300" u="none" cap="none" strike="noStrike">
              <a:solidFill>
                <a:schemeClr val="dk1"/>
              </a:solidFill>
              <a:latin typeface="Calibri"/>
              <a:ea typeface="Calibri"/>
              <a:cs typeface="Calibri"/>
              <a:sym typeface="Calibri"/>
            </a:endParaRPr>
          </a:p>
        </p:txBody>
      </p:sp>
      <p:sp>
        <p:nvSpPr>
          <p:cNvPr id="75" name="Google Shape;75;p4"/>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What is genuinely new in our paper</a:t>
            </a:r>
            <a:endParaRPr b="0" i="0" sz="2900" u="none" cap="none" strike="noStrike">
              <a:solidFill>
                <a:schemeClr val="dk1"/>
              </a:solidFill>
              <a:latin typeface="Calibri"/>
              <a:ea typeface="Calibri"/>
              <a:cs typeface="Calibri"/>
              <a:sym typeface="Calibri"/>
            </a:endParaRPr>
          </a:p>
        </p:txBody>
      </p:sp>
      <p:sp>
        <p:nvSpPr>
          <p:cNvPr id="76" name="Google Shape;76;p4"/>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R1.2</a:t>
            </a:r>
            <a:endParaRPr b="0" i="0" sz="1200" u="none" cap="none" strike="noStrike">
              <a:solidFill>
                <a:schemeClr val="dk1"/>
              </a:solidFill>
              <a:latin typeface="Calibri"/>
              <a:ea typeface="Calibri"/>
              <a:cs typeface="Calibri"/>
              <a:sym typeface="Calibri"/>
            </a:endParaRPr>
          </a:p>
        </p:txBody>
      </p:sp>
      <p:sp>
        <p:nvSpPr>
          <p:cNvPr id="77" name="Google Shape;77;p4"/>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79" name="Google Shape;79;p4"/>
          <p:cNvSpPr/>
          <p:nvPr/>
        </p:nvSpPr>
        <p:spPr>
          <a:xfrm>
            <a:off x="548640" y="1481328"/>
            <a:ext cx="11064240" cy="841248"/>
          </a:xfrm>
          <a:prstGeom prst="rect">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731520" y="1481328"/>
            <a:ext cx="1069848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00"/>
              <a:buFont typeface="Calibri"/>
              <a:buNone/>
            </a:pPr>
            <a:r>
              <a:rPr b="1" i="0" lang="en-US" sz="1100" u="none" cap="none" strike="noStrike">
                <a:solidFill>
                  <a:srgbClr val="065A82"/>
                </a:solidFill>
                <a:latin typeface="Calibri"/>
                <a:ea typeface="Calibri"/>
                <a:cs typeface="Calibri"/>
                <a:sym typeface="Calibri"/>
              </a:rPr>
              <a:t>REVIEWER'S CONCERN   </a:t>
            </a:r>
            <a:r>
              <a:rPr b="0" i="1" lang="en-US" sz="1300" u="none" cap="none" strike="noStrike">
                <a:solidFill>
                  <a:srgbClr val="1A1A1A"/>
                </a:solidFill>
                <a:latin typeface="Calibri"/>
                <a:ea typeface="Calibri"/>
                <a:cs typeface="Calibri"/>
                <a:sym typeface="Calibri"/>
              </a:rPr>
              <a:t>“The differentiator is not ‘RL in Sugarscape’ but ‘movement learning conditioned on trading-related state while trade remains rule-based.’”</a:t>
            </a:r>
            <a:endParaRPr b="0" i="0" sz="1100" u="none" cap="none" strike="noStrike">
              <a:solidFill>
                <a:schemeClr val="dk1"/>
              </a:solidFill>
              <a:latin typeface="Calibri"/>
              <a:ea typeface="Calibri"/>
              <a:cs typeface="Calibri"/>
              <a:sym typeface="Calibri"/>
            </a:endParaRPr>
          </a:p>
        </p:txBody>
      </p:sp>
      <p:sp>
        <p:nvSpPr>
          <p:cNvPr id="81" name="Google Shape;81;p4"/>
          <p:cNvSpPr/>
          <p:nvPr/>
        </p:nvSpPr>
        <p:spPr>
          <a:xfrm>
            <a:off x="548640" y="2606040"/>
            <a:ext cx="5257800" cy="2331720"/>
          </a:xfrm>
          <a:prstGeom prst="roundRect">
            <a:avLst>
              <a:gd fmla="val 3137" name="adj"/>
            </a:avLst>
          </a:prstGeom>
          <a:solidFill>
            <a:srgbClr val="FBEDEC"/>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7315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83" name="Google Shape;83;p4"/>
          <p:cNvSpPr/>
          <p:nvPr/>
        </p:nvSpPr>
        <p:spPr>
          <a:xfrm>
            <a:off x="3429000" y="2715768"/>
            <a:ext cx="21945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0392B"/>
              </a:buClr>
              <a:buSzPts val="1050"/>
              <a:buFont typeface="Calibri"/>
              <a:buNone/>
            </a:pPr>
            <a:r>
              <a:rPr b="1" i="1" lang="en-US" sz="1050" u="none" cap="none" strike="noStrike">
                <a:solidFill>
                  <a:srgbClr val="C0392B"/>
                </a:solidFill>
                <a:latin typeface="Calibri"/>
                <a:ea typeface="Calibri"/>
                <a:cs typeface="Calibri"/>
                <a:sym typeface="Calibri"/>
              </a:rPr>
              <a:t>v1 p.2 · §1</a:t>
            </a:r>
            <a:endParaRPr b="0" i="0" sz="1050" u="none" cap="none" strike="noStrike">
              <a:solidFill>
                <a:schemeClr val="dk1"/>
              </a:solidFill>
              <a:latin typeface="Calibri"/>
              <a:ea typeface="Calibri"/>
              <a:cs typeface="Calibri"/>
              <a:sym typeface="Calibri"/>
            </a:endParaRPr>
          </a:p>
        </p:txBody>
      </p:sp>
      <p:sp>
        <p:nvSpPr>
          <p:cNvPr id="84" name="Google Shape;84;p4"/>
          <p:cNvSpPr/>
          <p:nvPr/>
        </p:nvSpPr>
        <p:spPr>
          <a:xfrm>
            <a:off x="731520" y="3063240"/>
            <a:ext cx="489204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1" lang="en-US" sz="1250" u="none" cap="none" strike="noStrike">
                <a:solidFill>
                  <a:srgbClr val="1A1A1A"/>
                </a:solidFill>
                <a:latin typeface="Calibri"/>
                <a:ea typeface="Calibri"/>
                <a:cs typeface="Calibri"/>
                <a:sym typeface="Calibri"/>
              </a:rPr>
              <a:t>Contribution stated loosely as “updating Sugarscape with adaptive learning,” which overlaps with prior RL-in-Sugarscape work (Brearcliffe &amp; Crooks; Jäger).</a:t>
            </a:r>
            <a:endParaRPr b="0" i="0" sz="1250" u="none" cap="none" strike="noStrike">
              <a:solidFill>
                <a:schemeClr val="dk1"/>
              </a:solidFill>
              <a:latin typeface="Calibri"/>
              <a:ea typeface="Calibri"/>
              <a:cs typeface="Calibri"/>
              <a:sym typeface="Calibri"/>
            </a:endParaRPr>
          </a:p>
        </p:txBody>
      </p:sp>
      <p:sp>
        <p:nvSpPr>
          <p:cNvPr id="85" name="Google Shape;85;p4"/>
          <p:cNvSpPr/>
          <p:nvPr/>
        </p:nvSpPr>
        <p:spPr>
          <a:xfrm>
            <a:off x="5824728" y="3451860"/>
            <a:ext cx="685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7293"/>
              </a:buClr>
              <a:buSzPts val="3000"/>
              <a:buFont typeface="Calibri"/>
              <a:buNone/>
            </a:pPr>
            <a:r>
              <a:rPr b="1" i="0" lang="en-US" sz="3000" u="none" cap="none" strike="noStrike">
                <a:solidFill>
                  <a:srgbClr val="1C7293"/>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86" name="Google Shape;86;p4"/>
          <p:cNvSpPr/>
          <p:nvPr/>
        </p:nvSpPr>
        <p:spPr>
          <a:xfrm>
            <a:off x="6492240" y="2606040"/>
            <a:ext cx="5257800" cy="2331720"/>
          </a:xfrm>
          <a:prstGeom prst="roundRect">
            <a:avLst>
              <a:gd fmla="val 3137"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66751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7A46"/>
              </a:buClr>
              <a:buSzPts val="1100"/>
              <a:buFont typeface="Calibri"/>
              <a:buNone/>
            </a:pPr>
            <a:r>
              <a:rPr b="1" i="0" lang="en-US" sz="1100" u="none" cap="none" strike="noStrike">
                <a:solidFill>
                  <a:srgbClr val="1E7A46"/>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88" name="Google Shape;88;p4"/>
          <p:cNvSpPr/>
          <p:nvPr/>
        </p:nvSpPr>
        <p:spPr>
          <a:xfrm>
            <a:off x="9555480" y="2715768"/>
            <a:ext cx="20116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E7A46"/>
              </a:buClr>
              <a:buSzPts val="1050"/>
              <a:buFont typeface="Calibri"/>
              <a:buNone/>
            </a:pPr>
            <a:r>
              <a:rPr b="1" i="1" lang="en-US" sz="1050" u="none" cap="none" strike="noStrike">
                <a:solidFill>
                  <a:srgbClr val="1E7A46"/>
                </a:solidFill>
                <a:latin typeface="Calibri"/>
                <a:ea typeface="Calibri"/>
                <a:cs typeface="Calibri"/>
                <a:sym typeface="Calibri"/>
              </a:rPr>
              <a:t>v2 p.2 · §1</a:t>
            </a:r>
            <a:endParaRPr b="0" i="0" sz="1050" u="none" cap="none" strike="noStrike">
              <a:solidFill>
                <a:schemeClr val="dk1"/>
              </a:solidFill>
              <a:latin typeface="Calibri"/>
              <a:ea typeface="Calibri"/>
              <a:cs typeface="Calibri"/>
              <a:sym typeface="Calibri"/>
            </a:endParaRPr>
          </a:p>
        </p:txBody>
      </p:sp>
      <p:sp>
        <p:nvSpPr>
          <p:cNvPr id="89" name="Google Shape;89;p4"/>
          <p:cNvSpPr/>
          <p:nvPr/>
        </p:nvSpPr>
        <p:spPr>
          <a:xfrm>
            <a:off x="6675120" y="3063240"/>
            <a:ext cx="489204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Contribution now stated as three specific things — (1) market info (MRS) added to the observation, (2) a matched-conditions rule-based vs DRL comparison, (3) a policy-experiment laboratory.</a:t>
            </a:r>
            <a:endParaRPr b="0" i="0" sz="1250" u="none" cap="none" strike="noStrike">
              <a:solidFill>
                <a:schemeClr val="dk1"/>
              </a:solidFill>
              <a:latin typeface="Calibri"/>
              <a:ea typeface="Calibri"/>
              <a:cs typeface="Calibri"/>
              <a:sym typeface="Calibri"/>
            </a:endParaRPr>
          </a:p>
        </p:txBody>
      </p:sp>
      <p:sp>
        <p:nvSpPr>
          <p:cNvPr id="90" name="Google Shape;90;p4"/>
          <p:cNvSpPr/>
          <p:nvPr/>
        </p:nvSpPr>
        <p:spPr>
          <a:xfrm>
            <a:off x="548640" y="5257800"/>
            <a:ext cx="11064240" cy="868680"/>
          </a:xfrm>
          <a:prstGeom prst="roundRect">
            <a:avLst>
              <a:gd fmla="val 6316"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777240" y="5257800"/>
            <a:ext cx="106070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FB4CC"/>
              </a:buClr>
              <a:buSzPts val="1100"/>
              <a:buFont typeface="Calibri"/>
              <a:buNone/>
            </a:pPr>
            <a:r>
              <a:rPr b="1" i="0" lang="en-US" sz="1100" u="none" cap="none" strike="noStrike">
                <a:solidFill>
                  <a:srgbClr val="9FB4CC"/>
                </a:solidFill>
                <a:latin typeface="Calibri"/>
                <a:ea typeface="Calibri"/>
                <a:cs typeface="Calibri"/>
                <a:sym typeface="Calibri"/>
              </a:rPr>
              <a:t>WHAT WE DID   </a:t>
            </a:r>
            <a:r>
              <a:rPr b="0" i="0" lang="en-US" sz="1350" u="none" cap="none" strike="noStrike">
                <a:solidFill>
                  <a:srgbClr val="FFFFFF"/>
                </a:solidFill>
                <a:latin typeface="Calibri"/>
                <a:ea typeface="Calibri"/>
                <a:cs typeface="Calibri"/>
                <a:sym typeface="Calibri"/>
              </a:rPr>
              <a:t>We adopted the reviewer’s own phrasing as our contribution statement, and repositioned §2.2 so the novelty vs. prior work is explicit: earlier papers learned movement over resources only; we add the market channel.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5"/>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1 · POINT 3</a:t>
            </a:r>
            <a:endParaRPr b="0" i="0" sz="1300" u="none" cap="none" strike="noStrike">
              <a:solidFill>
                <a:schemeClr val="dk1"/>
              </a:solidFill>
              <a:latin typeface="Calibri"/>
              <a:ea typeface="Calibri"/>
              <a:cs typeface="Calibri"/>
              <a:sym typeface="Calibri"/>
            </a:endParaRPr>
          </a:p>
        </p:txBody>
      </p:sp>
      <p:sp>
        <p:nvSpPr>
          <p:cNvPr id="98" name="Google Shape;98;p5"/>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The comparison looked confounded — but wasn’t</a:t>
            </a:r>
            <a:endParaRPr b="0" i="0" sz="2900" u="none" cap="none" strike="noStrike">
              <a:solidFill>
                <a:schemeClr val="dk1"/>
              </a:solidFill>
              <a:latin typeface="Calibri"/>
              <a:ea typeface="Calibri"/>
              <a:cs typeface="Calibri"/>
              <a:sym typeface="Calibri"/>
            </a:endParaRPr>
          </a:p>
        </p:txBody>
      </p:sp>
      <p:sp>
        <p:nvSpPr>
          <p:cNvPr id="99" name="Google Shape;99;p5"/>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R1.3</a:t>
            </a:r>
            <a:endParaRPr b="0" i="0" sz="1200" u="none" cap="none" strike="noStrike">
              <a:solidFill>
                <a:schemeClr val="dk1"/>
              </a:solidFill>
              <a:latin typeface="Calibri"/>
              <a:ea typeface="Calibri"/>
              <a:cs typeface="Calibri"/>
              <a:sym typeface="Calibri"/>
            </a:endParaRPr>
          </a:p>
        </p:txBody>
      </p:sp>
      <p:sp>
        <p:nvSpPr>
          <p:cNvPr id="100" name="Google Shape;100;p5"/>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102" name="Google Shape;102;p5"/>
          <p:cNvSpPr/>
          <p:nvPr/>
        </p:nvSpPr>
        <p:spPr>
          <a:xfrm>
            <a:off x="548640" y="1481328"/>
            <a:ext cx="11064240" cy="841248"/>
          </a:xfrm>
          <a:prstGeom prst="rect">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731520" y="1481328"/>
            <a:ext cx="1069848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00"/>
              <a:buFont typeface="Calibri"/>
              <a:buNone/>
            </a:pPr>
            <a:r>
              <a:rPr b="1" i="0" lang="en-US" sz="1100" u="none" cap="none" strike="noStrike">
                <a:solidFill>
                  <a:srgbClr val="065A82"/>
                </a:solidFill>
                <a:latin typeface="Calibri"/>
                <a:ea typeface="Calibri"/>
                <a:cs typeface="Calibri"/>
                <a:sym typeface="Calibri"/>
              </a:rPr>
              <a:t>REVIEWER'S CONCERN   </a:t>
            </a:r>
            <a:r>
              <a:rPr b="0" i="1" lang="en-US" sz="1300" u="none" cap="none" strike="noStrike">
                <a:solidFill>
                  <a:srgbClr val="1A1A1A"/>
                </a:solidFill>
                <a:latin typeface="Calibri"/>
                <a:ea typeface="Calibri"/>
                <a:cs typeface="Calibri"/>
                <a:sym typeface="Calibri"/>
              </a:rPr>
              <a:t>“Baseline and DRL regimes differ in multiple structural parameters simultaneously, making causal attribution to RL invalid.”</a:t>
            </a:r>
            <a:endParaRPr b="0" i="0" sz="1100" u="none" cap="none" strike="noStrike">
              <a:solidFill>
                <a:schemeClr val="dk1"/>
              </a:solidFill>
              <a:latin typeface="Calibri"/>
              <a:ea typeface="Calibri"/>
              <a:cs typeface="Calibri"/>
              <a:sym typeface="Calibri"/>
            </a:endParaRPr>
          </a:p>
        </p:txBody>
      </p:sp>
      <p:sp>
        <p:nvSpPr>
          <p:cNvPr id="104" name="Google Shape;104;p5"/>
          <p:cNvSpPr/>
          <p:nvPr/>
        </p:nvSpPr>
        <p:spPr>
          <a:xfrm>
            <a:off x="548640" y="2606040"/>
            <a:ext cx="5257800" cy="2331720"/>
          </a:xfrm>
          <a:prstGeom prst="roundRect">
            <a:avLst>
              <a:gd fmla="val 3137" name="adj"/>
            </a:avLst>
          </a:prstGeom>
          <a:solidFill>
            <a:srgbClr val="FBEDEC"/>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7315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106" name="Google Shape;106;p5"/>
          <p:cNvSpPr/>
          <p:nvPr/>
        </p:nvSpPr>
        <p:spPr>
          <a:xfrm>
            <a:off x="3429000" y="2715768"/>
            <a:ext cx="21945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0392B"/>
              </a:buClr>
              <a:buSzPts val="1050"/>
              <a:buFont typeface="Calibri"/>
              <a:buNone/>
            </a:pPr>
            <a:r>
              <a:rPr b="1" i="1" lang="en-US" sz="1050" u="none" cap="none" strike="noStrike">
                <a:solidFill>
                  <a:srgbClr val="C0392B"/>
                </a:solidFill>
                <a:latin typeface="Calibri"/>
                <a:ea typeface="Calibri"/>
                <a:cs typeface="Calibri"/>
                <a:sym typeface="Calibri"/>
              </a:rPr>
              <a:t>v1 p.7 · old Table 1</a:t>
            </a:r>
            <a:endParaRPr b="0" i="0" sz="1050" u="none" cap="none" strike="noStrike">
              <a:solidFill>
                <a:schemeClr val="dk1"/>
              </a:solidFill>
              <a:latin typeface="Calibri"/>
              <a:ea typeface="Calibri"/>
              <a:cs typeface="Calibri"/>
              <a:sym typeface="Calibri"/>
            </a:endParaRPr>
          </a:p>
        </p:txBody>
      </p:sp>
      <p:sp>
        <p:nvSpPr>
          <p:cNvPr id="107" name="Google Shape;107;p5"/>
          <p:cNvSpPr/>
          <p:nvPr/>
        </p:nvSpPr>
        <p:spPr>
          <a:xfrm>
            <a:off x="3267080" y="3063250"/>
            <a:ext cx="2356500" cy="16917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1" lang="en-US" sz="1250" u="none" cap="none" strike="noStrike">
                <a:solidFill>
                  <a:srgbClr val="1A1A1A"/>
                </a:solidFill>
                <a:latin typeface="Calibri"/>
                <a:ea typeface="Calibri"/>
                <a:cs typeface="Calibri"/>
                <a:sym typeface="Calibri"/>
              </a:rPr>
              <a:t>Table 1 had two columns — “Baseline” (200 agents, vision 1–6…) vs “DRL extension” (500 agents, vision 10…). It LOOKED like the two conditions used different settings.</a:t>
            </a:r>
            <a:endParaRPr b="0" i="0" sz="1250" u="none" cap="none" strike="noStrike">
              <a:solidFill>
                <a:schemeClr val="dk1"/>
              </a:solidFill>
              <a:latin typeface="Calibri"/>
              <a:ea typeface="Calibri"/>
              <a:cs typeface="Calibri"/>
              <a:sym typeface="Calibri"/>
            </a:endParaRPr>
          </a:p>
        </p:txBody>
      </p:sp>
      <p:sp>
        <p:nvSpPr>
          <p:cNvPr id="108" name="Google Shape;108;p5"/>
          <p:cNvSpPr/>
          <p:nvPr/>
        </p:nvSpPr>
        <p:spPr>
          <a:xfrm>
            <a:off x="5824728" y="3451860"/>
            <a:ext cx="685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7293"/>
              </a:buClr>
              <a:buSzPts val="3000"/>
              <a:buFont typeface="Calibri"/>
              <a:buNone/>
            </a:pPr>
            <a:r>
              <a:rPr b="1" i="0" lang="en-US" sz="3000" u="none" cap="none" strike="noStrike">
                <a:solidFill>
                  <a:srgbClr val="1C7293"/>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6492240" y="2606040"/>
            <a:ext cx="5257800" cy="2331720"/>
          </a:xfrm>
          <a:prstGeom prst="roundRect">
            <a:avLst>
              <a:gd fmla="val 3137"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66751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7A46"/>
              </a:buClr>
              <a:buSzPts val="1100"/>
              <a:buFont typeface="Calibri"/>
              <a:buNone/>
            </a:pPr>
            <a:r>
              <a:rPr b="1" i="0" lang="en-US" sz="1100" u="none" cap="none" strike="noStrike">
                <a:solidFill>
                  <a:srgbClr val="1E7A46"/>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111" name="Google Shape;111;p5"/>
          <p:cNvSpPr/>
          <p:nvPr/>
        </p:nvSpPr>
        <p:spPr>
          <a:xfrm>
            <a:off x="9555480" y="2715768"/>
            <a:ext cx="20116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E7A46"/>
              </a:buClr>
              <a:buSzPts val="1050"/>
              <a:buFont typeface="Calibri"/>
              <a:buNone/>
            </a:pPr>
            <a:r>
              <a:rPr b="1" i="1" lang="en-US" sz="1050" u="none" cap="none" strike="noStrike">
                <a:solidFill>
                  <a:srgbClr val="1E7A46"/>
                </a:solidFill>
                <a:latin typeface="Calibri"/>
                <a:ea typeface="Calibri"/>
                <a:cs typeface="Calibri"/>
                <a:sym typeface="Calibri"/>
              </a:rPr>
              <a:t>v2 p.12–13 · Table 1</a:t>
            </a:r>
            <a:endParaRPr b="0" i="0" sz="1050" u="none" cap="none" strike="noStrike">
              <a:solidFill>
                <a:schemeClr val="dk1"/>
              </a:solidFill>
              <a:latin typeface="Calibri"/>
              <a:ea typeface="Calibri"/>
              <a:cs typeface="Calibri"/>
              <a:sym typeface="Calibri"/>
            </a:endParaRPr>
          </a:p>
        </p:txBody>
      </p:sp>
      <p:sp>
        <p:nvSpPr>
          <p:cNvPr id="112" name="Google Shape;112;p5"/>
          <p:cNvSpPr/>
          <p:nvPr/>
        </p:nvSpPr>
        <p:spPr>
          <a:xfrm>
            <a:off x="6675125" y="3063250"/>
            <a:ext cx="2011800" cy="16917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One column of study parameters. Caption: “All values apply identically to rule-based and DRL conditions; the only difference is the movement policy.” Plus an explicit identity-of-conditions sentence.</a:t>
            </a:r>
            <a:endParaRPr b="0" i="0" sz="1250" u="none" cap="none" strike="noStrike">
              <a:solidFill>
                <a:schemeClr val="dk1"/>
              </a:solidFill>
              <a:latin typeface="Calibri"/>
              <a:ea typeface="Calibri"/>
              <a:cs typeface="Calibri"/>
              <a:sym typeface="Calibri"/>
            </a:endParaRPr>
          </a:p>
        </p:txBody>
      </p:sp>
      <p:sp>
        <p:nvSpPr>
          <p:cNvPr id="113" name="Google Shape;113;p5"/>
          <p:cNvSpPr/>
          <p:nvPr/>
        </p:nvSpPr>
        <p:spPr>
          <a:xfrm>
            <a:off x="548640" y="5257800"/>
            <a:ext cx="11064240" cy="868680"/>
          </a:xfrm>
          <a:prstGeom prst="roundRect">
            <a:avLst>
              <a:gd fmla="val 6316"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777240" y="5257800"/>
            <a:ext cx="106070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FB4CC"/>
              </a:buClr>
              <a:buSzPts val="1100"/>
              <a:buFont typeface="Calibri"/>
              <a:buNone/>
            </a:pPr>
            <a:r>
              <a:rPr b="1" i="0" lang="en-US" sz="1100" u="none" cap="none" strike="noStrike">
                <a:solidFill>
                  <a:srgbClr val="9FB4CC"/>
                </a:solidFill>
                <a:latin typeface="Calibri"/>
                <a:ea typeface="Calibri"/>
                <a:cs typeface="Calibri"/>
                <a:sym typeface="Calibri"/>
              </a:rPr>
              <a:t>WHAT WE DID   </a:t>
            </a:r>
            <a:r>
              <a:rPr b="0" i="0" lang="en-US" sz="1350" u="none" cap="none" strike="noStrike">
                <a:solidFill>
                  <a:srgbClr val="FFFFFF"/>
                </a:solidFill>
                <a:latin typeface="Calibri"/>
                <a:ea typeface="Calibri"/>
                <a:cs typeface="Calibri"/>
                <a:sym typeface="Calibri"/>
              </a:rPr>
              <a:t>The two conditions were ALWAYS run under identical settings — the old table just didn’t say so. We replaced it with a single-column table and stated the matched design in §3.1 and again in §4.1.</a:t>
            </a:r>
            <a:endParaRPr b="0" i="0" sz="1100" u="none" cap="none" strike="noStrike">
              <a:solidFill>
                <a:schemeClr val="dk1"/>
              </a:solidFill>
              <a:latin typeface="Calibri"/>
              <a:ea typeface="Calibri"/>
              <a:cs typeface="Calibri"/>
              <a:sym typeface="Calibri"/>
            </a:endParaRPr>
          </a:p>
        </p:txBody>
      </p:sp>
      <p:pic>
        <p:nvPicPr>
          <p:cNvPr id="115" name="Google Shape;115;p5" title="Screenshot 2026-08-07 at 8.27.12.png"/>
          <p:cNvPicPr preferRelativeResize="0"/>
          <p:nvPr/>
        </p:nvPicPr>
        <p:blipFill>
          <a:blip r:embed="rId3">
            <a:alphaModFix/>
          </a:blip>
          <a:stretch>
            <a:fillRect/>
          </a:stretch>
        </p:blipFill>
        <p:spPr>
          <a:xfrm>
            <a:off x="0" y="3080563"/>
            <a:ext cx="3267075" cy="1419225"/>
          </a:xfrm>
          <a:prstGeom prst="rect">
            <a:avLst/>
          </a:prstGeom>
          <a:noFill/>
          <a:ln>
            <a:noFill/>
          </a:ln>
        </p:spPr>
      </p:pic>
      <p:pic>
        <p:nvPicPr>
          <p:cNvPr id="116" name="Google Shape;116;p5" title="Screenshot 2026-08-07 at 8.27.30.png"/>
          <p:cNvPicPr preferRelativeResize="0"/>
          <p:nvPr/>
        </p:nvPicPr>
        <p:blipFill>
          <a:blip r:embed="rId4">
            <a:alphaModFix/>
          </a:blip>
          <a:stretch>
            <a:fillRect/>
          </a:stretch>
        </p:blipFill>
        <p:spPr>
          <a:xfrm>
            <a:off x="8686925" y="3080564"/>
            <a:ext cx="3505075" cy="18395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6"/>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1 · POINTS 4 &amp; 5</a:t>
            </a:r>
            <a:endParaRPr b="0" i="0" sz="1300" u="none" cap="none" strike="noStrike">
              <a:solidFill>
                <a:schemeClr val="dk1"/>
              </a:solidFill>
              <a:latin typeface="Calibri"/>
              <a:ea typeface="Calibri"/>
              <a:cs typeface="Calibri"/>
              <a:sym typeface="Calibri"/>
            </a:endParaRPr>
          </a:p>
        </p:txBody>
      </p:sp>
      <p:sp>
        <p:nvSpPr>
          <p:cNvPr id="123" name="Google Shape;123;p6"/>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A contradiction, and a technical mis-statement</a:t>
            </a:r>
            <a:endParaRPr b="0" i="0" sz="2900" u="none" cap="none" strike="noStrike">
              <a:solidFill>
                <a:schemeClr val="dk1"/>
              </a:solidFill>
              <a:latin typeface="Calibri"/>
              <a:ea typeface="Calibri"/>
              <a:cs typeface="Calibri"/>
              <a:sym typeface="Calibri"/>
            </a:endParaRPr>
          </a:p>
        </p:txBody>
      </p:sp>
      <p:sp>
        <p:nvSpPr>
          <p:cNvPr id="124" name="Google Shape;124;p6"/>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R1.4–5</a:t>
            </a:r>
            <a:endParaRPr b="0" i="0" sz="1200" u="none" cap="none" strike="noStrike">
              <a:solidFill>
                <a:schemeClr val="dk1"/>
              </a:solidFill>
              <a:latin typeface="Calibri"/>
              <a:ea typeface="Calibri"/>
              <a:cs typeface="Calibri"/>
              <a:sym typeface="Calibri"/>
            </a:endParaRPr>
          </a:p>
        </p:txBody>
      </p:sp>
      <p:sp>
        <p:nvSpPr>
          <p:cNvPr id="125" name="Google Shape;125;p6"/>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127" name="Google Shape;127;p6"/>
          <p:cNvSpPr/>
          <p:nvPr/>
        </p:nvSpPr>
        <p:spPr>
          <a:xfrm>
            <a:off x="548640" y="1554480"/>
            <a:ext cx="11064240" cy="2148840"/>
          </a:xfrm>
          <a:prstGeom prst="roundRect">
            <a:avLst>
              <a:gd fmla="val 3404" name="adj"/>
            </a:avLst>
          </a:prstGeom>
          <a:solidFill>
            <a:srgbClr val="FFFFFF"/>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777240" y="1664208"/>
            <a:ext cx="10607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400"/>
              <a:buFont typeface="Calibri"/>
              <a:buNone/>
            </a:pPr>
            <a:r>
              <a:rPr b="1" i="0" lang="en-US" sz="1400" u="none" cap="none" strike="noStrike">
                <a:solidFill>
                  <a:srgbClr val="065A82"/>
                </a:solidFill>
                <a:latin typeface="Calibri"/>
                <a:ea typeface="Calibri"/>
                <a:cs typeface="Calibri"/>
                <a:sym typeface="Calibri"/>
              </a:rPr>
              <a:t>Point 4 — contradiction fixed   (v1 p.4  →  v2 p.4, §2.3)</a:t>
            </a:r>
            <a:endParaRPr b="0" i="0" sz="1400" u="none" cap="none" strike="noStrike">
              <a:solidFill>
                <a:schemeClr val="dk1"/>
              </a:solidFill>
              <a:latin typeface="Calibri"/>
              <a:ea typeface="Calibri"/>
              <a:cs typeface="Calibri"/>
              <a:sym typeface="Calibri"/>
            </a:endParaRPr>
          </a:p>
        </p:txBody>
      </p:sp>
      <p:sp>
        <p:nvSpPr>
          <p:cNvPr id="129" name="Google Shape;129;p6"/>
          <p:cNvSpPr/>
          <p:nvPr/>
        </p:nvSpPr>
        <p:spPr>
          <a:xfrm>
            <a:off x="777240" y="2194560"/>
            <a:ext cx="106070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BEFORE:  </a:t>
            </a:r>
            <a:r>
              <a:rPr b="0" i="1" lang="en-US" sz="1300" u="none" cap="none" strike="noStrike">
                <a:solidFill>
                  <a:srgbClr val="1A1A1A"/>
                </a:solidFill>
                <a:latin typeface="Calibri"/>
                <a:ea typeface="Calibri"/>
                <a:cs typeface="Calibri"/>
                <a:sym typeface="Calibri"/>
              </a:rPr>
              <a:t>“agents learn trading strategies… the action space includes implicit trading decisions.”</a:t>
            </a:r>
            <a:endParaRPr b="0" i="0" sz="1300" u="none" cap="none" strike="noStrike">
              <a:solidFill>
                <a:schemeClr val="dk1"/>
              </a:solidFill>
              <a:latin typeface="Calibri"/>
              <a:ea typeface="Calibri"/>
              <a:cs typeface="Calibri"/>
              <a:sym typeface="Calibri"/>
            </a:endParaRPr>
          </a:p>
        </p:txBody>
      </p:sp>
      <p:sp>
        <p:nvSpPr>
          <p:cNvPr id="130" name="Google Shape;130;p6"/>
          <p:cNvSpPr/>
          <p:nvPr/>
        </p:nvSpPr>
        <p:spPr>
          <a:xfrm>
            <a:off x="777240" y="2788920"/>
            <a:ext cx="106070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7A46"/>
              </a:buClr>
              <a:buSzPts val="1300"/>
              <a:buFont typeface="Calibri"/>
              <a:buNone/>
            </a:pPr>
            <a:r>
              <a:rPr b="1" i="0" lang="en-US" sz="1300" u="none" cap="none" strike="noStrike">
                <a:solidFill>
                  <a:srgbClr val="1E7A46"/>
                </a:solidFill>
                <a:latin typeface="Calibri"/>
                <a:ea typeface="Calibri"/>
                <a:cs typeface="Calibri"/>
                <a:sym typeface="Calibri"/>
              </a:rPr>
              <a:t>AFTER:  </a:t>
            </a:r>
            <a:r>
              <a:rPr b="0" i="0" lang="en-US" sz="1300" u="none" cap="none" strike="noStrike">
                <a:solidFill>
                  <a:srgbClr val="1A1A1A"/>
                </a:solidFill>
                <a:latin typeface="Calibri"/>
                <a:ea typeface="Calibri"/>
                <a:cs typeface="Calibri"/>
                <a:sym typeface="Calibri"/>
              </a:rPr>
              <a:t>“the action space comprises directional moves only; trade is executed by Rule T.” The two statements now agree.</a:t>
            </a:r>
            <a:endParaRPr b="0" i="0" sz="1300" u="none" cap="none" strike="noStrike">
              <a:solidFill>
                <a:schemeClr val="dk1"/>
              </a:solidFill>
              <a:latin typeface="Calibri"/>
              <a:ea typeface="Calibri"/>
              <a:cs typeface="Calibri"/>
              <a:sym typeface="Calibri"/>
            </a:endParaRPr>
          </a:p>
        </p:txBody>
      </p:sp>
      <p:sp>
        <p:nvSpPr>
          <p:cNvPr id="131" name="Google Shape;131;p6"/>
          <p:cNvSpPr/>
          <p:nvPr/>
        </p:nvSpPr>
        <p:spPr>
          <a:xfrm>
            <a:off x="548640" y="3886200"/>
            <a:ext cx="11064240" cy="2148840"/>
          </a:xfrm>
          <a:prstGeom prst="roundRect">
            <a:avLst>
              <a:gd fmla="val 3404" name="adj"/>
            </a:avLst>
          </a:prstGeom>
          <a:solidFill>
            <a:srgbClr val="FFFFFF"/>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777240" y="3995928"/>
            <a:ext cx="10607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400"/>
              <a:buFont typeface="Calibri"/>
              <a:buNone/>
            </a:pPr>
            <a:r>
              <a:rPr b="1" i="0" lang="en-US" sz="1400" u="none" cap="none" strike="noStrike">
                <a:solidFill>
                  <a:srgbClr val="065A82"/>
                </a:solidFill>
                <a:latin typeface="Calibri"/>
                <a:ea typeface="Calibri"/>
                <a:cs typeface="Calibri"/>
                <a:sym typeface="Calibri"/>
              </a:rPr>
              <a:t>Point 5 — Markov claim corrected   (v1 p.7  →  v2 p.10–11, §3.3.1)</a:t>
            </a:r>
            <a:endParaRPr b="0" i="0" sz="1400" u="none" cap="none" strike="noStrike">
              <a:solidFill>
                <a:schemeClr val="dk1"/>
              </a:solidFill>
              <a:latin typeface="Calibri"/>
              <a:ea typeface="Calibri"/>
              <a:cs typeface="Calibri"/>
              <a:sym typeface="Calibri"/>
            </a:endParaRPr>
          </a:p>
        </p:txBody>
      </p:sp>
      <p:sp>
        <p:nvSpPr>
          <p:cNvPr id="133" name="Google Shape;133;p6"/>
          <p:cNvSpPr/>
          <p:nvPr/>
        </p:nvSpPr>
        <p:spPr>
          <a:xfrm>
            <a:off x="777240" y="4526280"/>
            <a:ext cx="106070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BEFORE:  </a:t>
            </a:r>
            <a:r>
              <a:rPr b="0" i="1" lang="en-US" sz="1300" u="none" cap="none" strike="noStrike">
                <a:solidFill>
                  <a:srgbClr val="1A1A1A"/>
                </a:solidFill>
                <a:latin typeface="Calibri"/>
                <a:ea typeface="Calibri"/>
                <a:cs typeface="Calibri"/>
                <a:sym typeface="Calibri"/>
              </a:rPr>
              <a:t>“…ensuring that the learning process satisfies the Markov property.”</a:t>
            </a:r>
            <a:endParaRPr b="0" i="0" sz="1300" u="none" cap="none" strike="noStrike">
              <a:solidFill>
                <a:schemeClr val="dk1"/>
              </a:solidFill>
              <a:latin typeface="Calibri"/>
              <a:ea typeface="Calibri"/>
              <a:cs typeface="Calibri"/>
              <a:sym typeface="Calibri"/>
            </a:endParaRPr>
          </a:p>
        </p:txBody>
      </p:sp>
      <p:sp>
        <p:nvSpPr>
          <p:cNvPr id="134" name="Google Shape;134;p6"/>
          <p:cNvSpPr/>
          <p:nvPr/>
        </p:nvSpPr>
        <p:spPr>
          <a:xfrm>
            <a:off x="777240" y="5120640"/>
            <a:ext cx="106070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7A46"/>
              </a:buClr>
              <a:buSzPts val="1300"/>
              <a:buFont typeface="Calibri"/>
              <a:buNone/>
            </a:pPr>
            <a:r>
              <a:rPr b="1" i="0" lang="en-US" sz="1300" u="none" cap="none" strike="noStrike">
                <a:solidFill>
                  <a:srgbClr val="1E7A46"/>
                </a:solidFill>
                <a:latin typeface="Calibri"/>
                <a:ea typeface="Calibri"/>
                <a:cs typeface="Calibri"/>
                <a:sym typeface="Calibri"/>
              </a:rPr>
              <a:t>AFTER:  </a:t>
            </a:r>
            <a:r>
              <a:rPr b="0" i="0" lang="en-US" sz="1300" u="none" cap="none" strike="noStrike">
                <a:solidFill>
                  <a:srgbClr val="1A1A1A"/>
                </a:solidFill>
                <a:latin typeface="Calibri"/>
                <a:ea typeface="Calibri"/>
                <a:cs typeface="Calibri"/>
                <a:sym typeface="Calibri"/>
              </a:rPr>
              <a:t>reframed as a Dec-POMDP; non-stationarity from co-evolving policies acknowledged and cited; parameter-sharing called a partial mitigation, not a fix.</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7"/>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1 · POINTS 6, 7 &amp; 8</a:t>
            </a:r>
            <a:endParaRPr b="0" i="0" sz="1300" u="none" cap="none" strike="noStrike">
              <a:solidFill>
                <a:schemeClr val="dk1"/>
              </a:solidFill>
              <a:latin typeface="Calibri"/>
              <a:ea typeface="Calibri"/>
              <a:cs typeface="Calibri"/>
              <a:sym typeface="Calibri"/>
            </a:endParaRPr>
          </a:p>
        </p:txBody>
      </p:sp>
      <p:sp>
        <p:nvSpPr>
          <p:cNvPr id="141" name="Google Shape;141;p7"/>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Three definitions that needed to be precise</a:t>
            </a:r>
            <a:endParaRPr b="0" i="0" sz="2900" u="none" cap="none" strike="noStrike">
              <a:solidFill>
                <a:schemeClr val="dk1"/>
              </a:solidFill>
              <a:latin typeface="Calibri"/>
              <a:ea typeface="Calibri"/>
              <a:cs typeface="Calibri"/>
              <a:sym typeface="Calibri"/>
            </a:endParaRPr>
          </a:p>
        </p:txBody>
      </p:sp>
      <p:sp>
        <p:nvSpPr>
          <p:cNvPr id="142" name="Google Shape;142;p7"/>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R1.6–8</a:t>
            </a:r>
            <a:endParaRPr b="0" i="0" sz="1200" u="none" cap="none" strike="noStrike">
              <a:solidFill>
                <a:schemeClr val="dk1"/>
              </a:solidFill>
              <a:latin typeface="Calibri"/>
              <a:ea typeface="Calibri"/>
              <a:cs typeface="Calibri"/>
              <a:sym typeface="Calibri"/>
            </a:endParaRPr>
          </a:p>
        </p:txBody>
      </p:sp>
      <p:sp>
        <p:nvSpPr>
          <p:cNvPr id="143" name="Google Shape;143;p7"/>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145" name="Google Shape;145;p7"/>
          <p:cNvSpPr/>
          <p:nvPr/>
        </p:nvSpPr>
        <p:spPr>
          <a:xfrm>
            <a:off x="548640" y="1600200"/>
            <a:ext cx="11064240" cy="1371600"/>
          </a:xfrm>
          <a:prstGeom prst="roundRect">
            <a:avLst>
              <a:gd fmla="val 4667" name="adj"/>
            </a:avLst>
          </a:prstGeom>
          <a:solidFill>
            <a:srgbClr val="FFFFFF"/>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777240" y="2011680"/>
            <a:ext cx="548640" cy="548640"/>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777240" y="2011680"/>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6</a:t>
            </a:r>
            <a:endParaRPr b="0" i="0" sz="2200" u="none" cap="none" strike="noStrike">
              <a:solidFill>
                <a:schemeClr val="dk1"/>
              </a:solidFill>
              <a:latin typeface="Calibri"/>
              <a:ea typeface="Calibri"/>
              <a:cs typeface="Calibri"/>
              <a:sym typeface="Calibri"/>
            </a:endParaRPr>
          </a:p>
        </p:txBody>
      </p:sp>
      <p:sp>
        <p:nvSpPr>
          <p:cNvPr id="148" name="Google Shape;148;p7"/>
          <p:cNvSpPr/>
          <p:nvPr/>
        </p:nvSpPr>
        <p:spPr>
          <a:xfrm>
            <a:off x="1508760" y="1728216"/>
            <a:ext cx="9966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Point 6 — Observation clarified    ·    v1 p.6  →  v2 p.8 (§3.2.1)</a:t>
            </a:r>
            <a:endParaRPr b="0" i="0" sz="1400" u="none" cap="none" strike="noStrike">
              <a:solidFill>
                <a:schemeClr val="dk1"/>
              </a:solidFill>
              <a:latin typeface="Calibri"/>
              <a:ea typeface="Calibri"/>
              <a:cs typeface="Calibri"/>
              <a:sym typeface="Calibri"/>
            </a:endParaRPr>
          </a:p>
        </p:txBody>
      </p:sp>
      <p:sp>
        <p:nvSpPr>
          <p:cNvPr id="149" name="Google Shape;149;p7"/>
          <p:cNvSpPr/>
          <p:nvPr/>
        </p:nvSpPr>
        <p:spPr>
          <a:xfrm>
            <a:off x="1508760" y="2148840"/>
            <a:ext cx="9966960" cy="73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Now fully specified: a cross-shaped view of 41 cells × 4 channels, flattened + 6 internal values = a 170-dimensional input. No ambiguity.</a:t>
            </a:r>
            <a:endParaRPr b="0" i="0" sz="1250" u="none" cap="none" strike="noStrike">
              <a:solidFill>
                <a:schemeClr val="dk1"/>
              </a:solidFill>
              <a:latin typeface="Calibri"/>
              <a:ea typeface="Calibri"/>
              <a:cs typeface="Calibri"/>
              <a:sym typeface="Calibri"/>
            </a:endParaRPr>
          </a:p>
        </p:txBody>
      </p:sp>
      <p:sp>
        <p:nvSpPr>
          <p:cNvPr id="150" name="Google Shape;150;p7"/>
          <p:cNvSpPr/>
          <p:nvPr/>
        </p:nvSpPr>
        <p:spPr>
          <a:xfrm>
            <a:off x="548640" y="3136392"/>
            <a:ext cx="11064240" cy="1371600"/>
          </a:xfrm>
          <a:prstGeom prst="roundRect">
            <a:avLst>
              <a:gd fmla="val 4667" name="adj"/>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777240" y="3547872"/>
            <a:ext cx="548640" cy="548640"/>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777240" y="3547872"/>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7</a:t>
            </a:r>
            <a:endParaRPr b="0" i="0" sz="2200" u="none" cap="none" strike="noStrike">
              <a:solidFill>
                <a:schemeClr val="dk1"/>
              </a:solidFill>
              <a:latin typeface="Calibri"/>
              <a:ea typeface="Calibri"/>
              <a:cs typeface="Calibri"/>
              <a:sym typeface="Calibri"/>
            </a:endParaRPr>
          </a:p>
        </p:txBody>
      </p:sp>
      <p:sp>
        <p:nvSpPr>
          <p:cNvPr id="153" name="Google Shape;153;p7"/>
          <p:cNvSpPr/>
          <p:nvPr/>
        </p:nvSpPr>
        <p:spPr>
          <a:xfrm>
            <a:off x="1508760" y="3264408"/>
            <a:ext cx="9966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Point 7 — Reward tightened    ·    v1 p.6  →  v2 p.9–10 (§3.2.3)</a:t>
            </a:r>
            <a:endParaRPr b="0" i="0" sz="1400" u="none" cap="none" strike="noStrike">
              <a:solidFill>
                <a:schemeClr val="dk1"/>
              </a:solidFill>
              <a:latin typeface="Calibri"/>
              <a:ea typeface="Calibri"/>
              <a:cs typeface="Calibri"/>
              <a:sym typeface="Calibri"/>
            </a:endParaRPr>
          </a:p>
        </p:txBody>
      </p:sp>
      <p:sp>
        <p:nvSpPr>
          <p:cNvPr id="154" name="Google Shape;154;p7"/>
          <p:cNvSpPr/>
          <p:nvPr/>
        </p:nvSpPr>
        <p:spPr>
          <a:xfrm>
            <a:off x="1508760" y="3685032"/>
            <a:ext cx="9966960" cy="73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Now one clean equation, named an “expected-utility heuristic,” linked to potential-based reward shaping; the death penalty defined as a set hyperparameter.</a:t>
            </a:r>
            <a:endParaRPr b="0" i="0" sz="1250" u="none" cap="none" strike="noStrike">
              <a:solidFill>
                <a:schemeClr val="dk1"/>
              </a:solidFill>
              <a:latin typeface="Calibri"/>
              <a:ea typeface="Calibri"/>
              <a:cs typeface="Calibri"/>
              <a:sym typeface="Calibri"/>
            </a:endParaRPr>
          </a:p>
        </p:txBody>
      </p:sp>
      <p:sp>
        <p:nvSpPr>
          <p:cNvPr id="155" name="Google Shape;155;p7"/>
          <p:cNvSpPr/>
          <p:nvPr/>
        </p:nvSpPr>
        <p:spPr>
          <a:xfrm>
            <a:off x="548640" y="4672584"/>
            <a:ext cx="11064240" cy="1371600"/>
          </a:xfrm>
          <a:prstGeom prst="roundRect">
            <a:avLst>
              <a:gd fmla="val 4667" name="adj"/>
            </a:avLst>
          </a:prstGeom>
          <a:solidFill>
            <a:srgbClr val="FFFFFF"/>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777240" y="5084064"/>
            <a:ext cx="548640" cy="548640"/>
          </a:xfrm>
          <a:prstGeom prst="ellipse">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777240" y="5084064"/>
            <a:ext cx="54864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8</a:t>
            </a:r>
            <a:endParaRPr b="0" i="0" sz="2200" u="none" cap="none" strike="noStrike">
              <a:solidFill>
                <a:schemeClr val="dk1"/>
              </a:solidFill>
              <a:latin typeface="Calibri"/>
              <a:ea typeface="Calibri"/>
              <a:cs typeface="Calibri"/>
              <a:sym typeface="Calibri"/>
            </a:endParaRPr>
          </a:p>
        </p:txBody>
      </p:sp>
      <p:sp>
        <p:nvSpPr>
          <p:cNvPr id="158" name="Google Shape;158;p7"/>
          <p:cNvSpPr/>
          <p:nvPr/>
        </p:nvSpPr>
        <p:spPr>
          <a:xfrm>
            <a:off x="1508760" y="4800600"/>
            <a:ext cx="99669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Point 8 — Price metric defined    ·    v1 p.14  →  v2 p.1</a:t>
            </a:r>
            <a:r>
              <a:rPr b="1" lang="en-US">
                <a:solidFill>
                  <a:srgbClr val="21295C"/>
                </a:solidFill>
                <a:latin typeface="Calibri"/>
                <a:ea typeface="Calibri"/>
                <a:cs typeface="Calibri"/>
                <a:sym typeface="Calibri"/>
              </a:rPr>
              <a:t>3</a:t>
            </a:r>
            <a:r>
              <a:rPr b="1" i="0" lang="en-US" sz="1400" u="none" cap="none" strike="noStrike">
                <a:solidFill>
                  <a:srgbClr val="21295C"/>
                </a:solidFill>
                <a:latin typeface="Calibri"/>
                <a:ea typeface="Calibri"/>
                <a:cs typeface="Calibri"/>
                <a:sym typeface="Calibri"/>
              </a:rPr>
              <a:t> (§</a:t>
            </a:r>
            <a:r>
              <a:rPr b="1" lang="en-US">
                <a:solidFill>
                  <a:srgbClr val="21295C"/>
                </a:solidFill>
                <a:latin typeface="Calibri"/>
                <a:ea typeface="Calibri"/>
                <a:cs typeface="Calibri"/>
                <a:sym typeface="Calibri"/>
              </a:rPr>
              <a:t>3</a:t>
            </a:r>
            <a:r>
              <a:rPr b="1" i="0" lang="en-US" sz="1400" u="none" cap="none" strike="noStrike">
                <a:solidFill>
                  <a:srgbClr val="21295C"/>
                </a:solidFill>
                <a:latin typeface="Calibri"/>
                <a:ea typeface="Calibri"/>
                <a:cs typeface="Calibri"/>
                <a:sym typeface="Calibri"/>
              </a:rPr>
              <a:t>.</a:t>
            </a:r>
            <a:r>
              <a:rPr b="1" lang="en-US">
                <a:solidFill>
                  <a:srgbClr val="21295C"/>
                </a:solidFill>
                <a:latin typeface="Calibri"/>
                <a:ea typeface="Calibri"/>
                <a:cs typeface="Calibri"/>
                <a:sym typeface="Calibri"/>
              </a:rPr>
              <a:t>5</a:t>
            </a:r>
            <a:r>
              <a:rPr b="1" i="0" lang="en-US" sz="1400" u="none" cap="none" strike="noStrike">
                <a:solidFill>
                  <a:srgbClr val="21295C"/>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59" name="Google Shape;159;p7"/>
          <p:cNvSpPr/>
          <p:nvPr/>
        </p:nvSpPr>
        <p:spPr>
          <a:xfrm>
            <a:off x="1508760" y="5221224"/>
            <a:ext cx="9966960" cy="73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Now formally defined as a cumulative geometric-mean price; and we narrowed the claim to what it measures — cross-replicate CONSISTENCY, not faster convergence.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64" name="Shape 164"/>
        <p:cNvGrpSpPr/>
        <p:nvPr/>
      </p:nvGrpSpPr>
      <p:grpSpPr>
        <a:xfrm>
          <a:off x="0" y="0"/>
          <a:ext cx="0" cy="0"/>
          <a:chOff x="0" y="0"/>
          <a:chExt cx="0" cy="0"/>
        </a:xfrm>
      </p:grpSpPr>
      <p:sp>
        <p:nvSpPr>
          <p:cNvPr id="165" name="Google Shape;165;p8"/>
          <p:cNvSpPr/>
          <p:nvPr/>
        </p:nvSpPr>
        <p:spPr>
          <a:xfrm>
            <a:off x="731520" y="2377440"/>
            <a:ext cx="100584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REVIEWER 2</a:t>
            </a:r>
            <a:endParaRPr b="0" i="0" sz="4600" u="none" cap="none" strike="noStrike">
              <a:solidFill>
                <a:schemeClr val="dk1"/>
              </a:solidFill>
              <a:latin typeface="Calibri"/>
              <a:ea typeface="Calibri"/>
              <a:cs typeface="Calibri"/>
              <a:sym typeface="Calibri"/>
            </a:endParaRPr>
          </a:p>
        </p:txBody>
      </p:sp>
      <p:sp>
        <p:nvSpPr>
          <p:cNvPr id="166" name="Google Shape;166;p8"/>
          <p:cNvSpPr/>
          <p:nvPr/>
        </p:nvSpPr>
        <p:spPr>
          <a:xfrm>
            <a:off x="731520" y="329184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2200"/>
              <a:buFont typeface="Cambria"/>
              <a:buNone/>
            </a:pPr>
            <a:r>
              <a:rPr b="0" i="1" lang="en-US" sz="2200" u="none" cap="none" strike="noStrike">
                <a:solidFill>
                  <a:srgbClr val="CADCFC"/>
                </a:solidFill>
                <a:latin typeface="Cambria"/>
                <a:ea typeface="Cambria"/>
                <a:cs typeface="Cambria"/>
                <a:sym typeface="Cambria"/>
              </a:rPr>
              <a:t>Stronger statistics, and one honest limitation</a:t>
            </a:r>
            <a:endParaRPr b="0" i="0" sz="2200" u="none" cap="none" strike="noStrike">
              <a:solidFill>
                <a:schemeClr val="dk1"/>
              </a:solidFill>
              <a:latin typeface="Calibri"/>
              <a:ea typeface="Calibri"/>
              <a:cs typeface="Calibri"/>
              <a:sym typeface="Calibri"/>
            </a:endParaRPr>
          </a:p>
        </p:txBody>
      </p:sp>
      <p:sp>
        <p:nvSpPr>
          <p:cNvPr id="167" name="Google Shape;167;p8"/>
          <p:cNvSpPr/>
          <p:nvPr/>
        </p:nvSpPr>
        <p:spPr>
          <a:xfrm>
            <a:off x="731520" y="4023360"/>
            <a:ext cx="105156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Reviewer 2 was broadly positive and asked for more rigorous methods.</a:t>
            </a:r>
            <a:endParaRPr b="0" i="0" sz="15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CADCFC"/>
              </a:buClr>
              <a:buSzPts val="1500"/>
              <a:buFont typeface="Calibri"/>
              <a:buNone/>
            </a:pPr>
            <a:r>
              <a:rPr b="0" i="0" lang="en-US" sz="1500" u="none" cap="none" strike="noStrike">
                <a:solidFill>
                  <a:srgbClr val="CADCFC"/>
                </a:solidFill>
                <a:latin typeface="Calibri"/>
                <a:ea typeface="Calibri"/>
                <a:cs typeface="Calibri"/>
                <a:sym typeface="Calibri"/>
              </a:rPr>
              <a:t>Five of six requests are done; one — training seeds — we flag openly.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9"/>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2 · POINT 3</a:t>
            </a:r>
            <a:endParaRPr b="0" i="0" sz="1300" u="none" cap="none" strike="noStrike">
              <a:solidFill>
                <a:schemeClr val="dk1"/>
              </a:solidFill>
              <a:latin typeface="Calibri"/>
              <a:ea typeface="Calibri"/>
              <a:cs typeface="Calibri"/>
              <a:sym typeface="Calibri"/>
            </a:endParaRPr>
          </a:p>
        </p:txBody>
      </p:sp>
      <p:sp>
        <p:nvSpPr>
          <p:cNvPr id="174" name="Google Shape;174;p9"/>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Added Kaplan–Meier survival analysis</a:t>
            </a:r>
            <a:endParaRPr b="0" i="0" sz="2900" u="none" cap="none" strike="noStrike">
              <a:solidFill>
                <a:schemeClr val="dk1"/>
              </a:solidFill>
              <a:latin typeface="Calibri"/>
              <a:ea typeface="Calibri"/>
              <a:cs typeface="Calibri"/>
              <a:sym typeface="Calibri"/>
            </a:endParaRPr>
          </a:p>
        </p:txBody>
      </p:sp>
      <p:sp>
        <p:nvSpPr>
          <p:cNvPr id="175" name="Google Shape;175;p9"/>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R2.3</a:t>
            </a:r>
            <a:endParaRPr b="0" i="0" sz="1200" u="none" cap="none" strike="noStrike">
              <a:solidFill>
                <a:schemeClr val="dk1"/>
              </a:solidFill>
              <a:latin typeface="Calibri"/>
              <a:ea typeface="Calibri"/>
              <a:cs typeface="Calibri"/>
              <a:sym typeface="Calibri"/>
            </a:endParaRPr>
          </a:p>
        </p:txBody>
      </p:sp>
      <p:sp>
        <p:nvSpPr>
          <p:cNvPr id="176" name="Google Shape;176;p9"/>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178" name="Google Shape;178;p9"/>
          <p:cNvSpPr/>
          <p:nvPr/>
        </p:nvSpPr>
        <p:spPr>
          <a:xfrm>
            <a:off x="548640" y="1481328"/>
            <a:ext cx="11064240" cy="841248"/>
          </a:xfrm>
          <a:prstGeom prst="rect">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731520" y="1481328"/>
            <a:ext cx="1069848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00"/>
              <a:buFont typeface="Calibri"/>
              <a:buNone/>
            </a:pPr>
            <a:r>
              <a:rPr b="1" i="0" lang="en-US" sz="1100" u="none" cap="none" strike="noStrike">
                <a:solidFill>
                  <a:srgbClr val="065A82"/>
                </a:solidFill>
                <a:latin typeface="Calibri"/>
                <a:ea typeface="Calibri"/>
                <a:cs typeface="Calibri"/>
                <a:sym typeface="Calibri"/>
              </a:rPr>
              <a:t>REVIEWER'S CONCERN   </a:t>
            </a:r>
            <a:r>
              <a:rPr b="0" i="1" lang="en-US" sz="1300" u="none" cap="none" strike="noStrike">
                <a:solidFill>
                  <a:srgbClr val="1A1A1A"/>
                </a:solidFill>
                <a:latin typeface="Calibri"/>
                <a:ea typeface="Calibri"/>
                <a:cs typeface="Calibri"/>
                <a:sym typeface="Calibri"/>
              </a:rPr>
              <a:t>“Paired t-tests on final population counts discard rich temporal information. Kaplan–Meier estimation with log-rank testing would be more rigorous.”</a:t>
            </a:r>
            <a:endParaRPr b="0" i="0" sz="1100" u="none" cap="none" strike="noStrike">
              <a:solidFill>
                <a:schemeClr val="dk1"/>
              </a:solidFill>
              <a:latin typeface="Calibri"/>
              <a:ea typeface="Calibri"/>
              <a:cs typeface="Calibri"/>
              <a:sym typeface="Calibri"/>
            </a:endParaRPr>
          </a:p>
        </p:txBody>
      </p:sp>
      <p:sp>
        <p:nvSpPr>
          <p:cNvPr id="180" name="Google Shape;180;p9"/>
          <p:cNvSpPr/>
          <p:nvPr/>
        </p:nvSpPr>
        <p:spPr>
          <a:xfrm>
            <a:off x="548640" y="2606040"/>
            <a:ext cx="5257800" cy="2331720"/>
          </a:xfrm>
          <a:prstGeom prst="roundRect">
            <a:avLst>
              <a:gd fmla="val 3137" name="adj"/>
            </a:avLst>
          </a:prstGeom>
          <a:solidFill>
            <a:srgbClr val="FBEDEC"/>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7315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182" name="Google Shape;182;p9"/>
          <p:cNvSpPr/>
          <p:nvPr/>
        </p:nvSpPr>
        <p:spPr>
          <a:xfrm>
            <a:off x="3429000" y="2715768"/>
            <a:ext cx="21945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0392B"/>
              </a:buClr>
              <a:buSzPts val="1050"/>
              <a:buFont typeface="Calibri"/>
              <a:buNone/>
            </a:pPr>
            <a:r>
              <a:rPr b="1" i="1" lang="en-US" sz="1050" u="none" cap="none" strike="noStrike">
                <a:solidFill>
                  <a:srgbClr val="C0392B"/>
                </a:solidFill>
                <a:latin typeface="Calibri"/>
                <a:ea typeface="Calibri"/>
                <a:cs typeface="Calibri"/>
                <a:sym typeface="Calibri"/>
              </a:rPr>
              <a:t>v1 p.13 · §4.1</a:t>
            </a:r>
            <a:endParaRPr b="0" i="0" sz="1050" u="none" cap="none" strike="noStrike">
              <a:solidFill>
                <a:schemeClr val="dk1"/>
              </a:solidFill>
              <a:latin typeface="Calibri"/>
              <a:ea typeface="Calibri"/>
              <a:cs typeface="Calibri"/>
              <a:sym typeface="Calibri"/>
            </a:endParaRPr>
          </a:p>
        </p:txBody>
      </p:sp>
      <p:sp>
        <p:nvSpPr>
          <p:cNvPr id="183" name="Google Shape;183;p9"/>
          <p:cNvSpPr/>
          <p:nvPr/>
        </p:nvSpPr>
        <p:spPr>
          <a:xfrm>
            <a:off x="731520" y="3063240"/>
            <a:ext cx="489204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1" lang="en-US" sz="1250" u="none" cap="none" strike="noStrike">
                <a:solidFill>
                  <a:srgbClr val="1A1A1A"/>
                </a:solidFill>
                <a:latin typeface="Calibri"/>
                <a:ea typeface="Calibri"/>
                <a:cs typeface="Calibri"/>
                <a:sym typeface="Calibri"/>
              </a:rPr>
              <a:t>Only a single number: the population alive at the end of the episode, compared with a t-test.</a:t>
            </a:r>
            <a:endParaRPr b="0" i="0" sz="1250" u="none" cap="none" strike="noStrike">
              <a:solidFill>
                <a:schemeClr val="dk1"/>
              </a:solidFill>
              <a:latin typeface="Calibri"/>
              <a:ea typeface="Calibri"/>
              <a:cs typeface="Calibri"/>
              <a:sym typeface="Calibri"/>
            </a:endParaRPr>
          </a:p>
        </p:txBody>
      </p:sp>
      <p:sp>
        <p:nvSpPr>
          <p:cNvPr id="184" name="Google Shape;184;p9"/>
          <p:cNvSpPr/>
          <p:nvPr/>
        </p:nvSpPr>
        <p:spPr>
          <a:xfrm>
            <a:off x="5824728" y="3451860"/>
            <a:ext cx="685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7293"/>
              </a:buClr>
              <a:buSzPts val="3000"/>
              <a:buFont typeface="Calibri"/>
              <a:buNone/>
            </a:pPr>
            <a:r>
              <a:rPr b="1" i="0" lang="en-US" sz="3000" u="none" cap="none" strike="noStrike">
                <a:solidFill>
                  <a:srgbClr val="1C7293"/>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85" name="Google Shape;185;p9"/>
          <p:cNvSpPr/>
          <p:nvPr/>
        </p:nvSpPr>
        <p:spPr>
          <a:xfrm>
            <a:off x="6492240" y="2606040"/>
            <a:ext cx="5257800" cy="2331720"/>
          </a:xfrm>
          <a:prstGeom prst="roundRect">
            <a:avLst>
              <a:gd fmla="val 3137"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6675120" y="271576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7A46"/>
              </a:buClr>
              <a:buSzPts val="1100"/>
              <a:buFont typeface="Calibri"/>
              <a:buNone/>
            </a:pPr>
            <a:r>
              <a:rPr b="1" i="0" lang="en-US" sz="1100" u="none" cap="none" strike="noStrike">
                <a:solidFill>
                  <a:srgbClr val="1E7A46"/>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187" name="Google Shape;187;p9"/>
          <p:cNvSpPr/>
          <p:nvPr/>
        </p:nvSpPr>
        <p:spPr>
          <a:xfrm>
            <a:off x="9555480" y="2715768"/>
            <a:ext cx="20116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E7A46"/>
              </a:buClr>
              <a:buSzPts val="1050"/>
              <a:buFont typeface="Calibri"/>
              <a:buNone/>
            </a:pPr>
            <a:r>
              <a:rPr b="1" i="1" lang="en-US" sz="1050" u="none" cap="none" strike="noStrike">
                <a:solidFill>
                  <a:srgbClr val="1E7A46"/>
                </a:solidFill>
                <a:latin typeface="Calibri"/>
                <a:ea typeface="Calibri"/>
                <a:cs typeface="Calibri"/>
                <a:sym typeface="Calibri"/>
              </a:rPr>
              <a:t>v2 p.17 · §4.1</a:t>
            </a:r>
            <a:endParaRPr b="0" i="0" sz="1050" u="none" cap="none" strike="noStrike">
              <a:solidFill>
                <a:schemeClr val="dk1"/>
              </a:solidFill>
              <a:latin typeface="Calibri"/>
              <a:ea typeface="Calibri"/>
              <a:cs typeface="Calibri"/>
              <a:sym typeface="Calibri"/>
            </a:endParaRPr>
          </a:p>
        </p:txBody>
      </p:sp>
      <p:sp>
        <p:nvSpPr>
          <p:cNvPr id="188" name="Google Shape;188;p9"/>
          <p:cNvSpPr/>
          <p:nvPr/>
        </p:nvSpPr>
        <p:spPr>
          <a:xfrm>
            <a:off x="6675120" y="3063240"/>
            <a:ext cx="4892040" cy="1691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Full survival curves over the whole episode. DRL median lifespan +45% (det.) and +44% (stoch.); log-rank test p &lt; 10⁻¹⁰⁰. New Table 2.</a:t>
            </a:r>
            <a:endParaRPr b="0" i="0" sz="1250" u="none" cap="none" strike="noStrike">
              <a:solidFill>
                <a:schemeClr val="dk1"/>
              </a:solidFill>
              <a:latin typeface="Calibri"/>
              <a:ea typeface="Calibri"/>
              <a:cs typeface="Calibri"/>
              <a:sym typeface="Calibri"/>
            </a:endParaRPr>
          </a:p>
        </p:txBody>
      </p:sp>
      <p:sp>
        <p:nvSpPr>
          <p:cNvPr id="189" name="Google Shape;189;p9"/>
          <p:cNvSpPr/>
          <p:nvPr/>
        </p:nvSpPr>
        <p:spPr>
          <a:xfrm>
            <a:off x="548640" y="5257800"/>
            <a:ext cx="11064240" cy="868680"/>
          </a:xfrm>
          <a:prstGeom prst="roundRect">
            <a:avLst>
              <a:gd fmla="val 6316"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777240" y="5257800"/>
            <a:ext cx="106070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FB4CC"/>
              </a:buClr>
              <a:buSzPts val="1100"/>
              <a:buFont typeface="Calibri"/>
              <a:buNone/>
            </a:pPr>
            <a:r>
              <a:rPr b="1" i="0" lang="en-US" sz="1100" u="none" cap="none" strike="noStrike">
                <a:solidFill>
                  <a:srgbClr val="9FB4CC"/>
                </a:solidFill>
                <a:latin typeface="Calibri"/>
                <a:ea typeface="Calibri"/>
                <a:cs typeface="Calibri"/>
                <a:sym typeface="Calibri"/>
              </a:rPr>
              <a:t>WHAT WE DID   </a:t>
            </a:r>
            <a:r>
              <a:rPr b="0" i="0" lang="en-US" sz="1350" u="none" cap="none" strike="noStrike">
                <a:solidFill>
                  <a:srgbClr val="FFFFFF"/>
                </a:solidFill>
                <a:latin typeface="Calibri"/>
                <a:ea typeface="Calibri"/>
                <a:cs typeface="Calibri"/>
                <a:sym typeface="Calibri"/>
              </a:rPr>
              <a:t>We reconstructed every agent’s lifetime from the step-by-step records and added Kaplan–Meier curves with log-rank tests — exactly the method the reviewer suggested. It shows the DRL advantage holds across the whole episode, not just at the end.</a:t>
            </a:r>
            <a:endParaRPr b="0" i="0" sz="1100" u="none" cap="none" strike="noStrike">
              <a:solidFill>
                <a:schemeClr val="dk1"/>
              </a:solidFill>
              <a:latin typeface="Calibri"/>
              <a:ea typeface="Calibri"/>
              <a:cs typeface="Calibri"/>
              <a:sym typeface="Calibri"/>
            </a:endParaRPr>
          </a:p>
        </p:txBody>
      </p:sp>
      <p:pic>
        <p:nvPicPr>
          <p:cNvPr id="191" name="Google Shape;191;p9" title="Screenshot 2026-08-07 at 8.30.35.png"/>
          <p:cNvPicPr preferRelativeResize="0"/>
          <p:nvPr/>
        </p:nvPicPr>
        <p:blipFill>
          <a:blip r:embed="rId3">
            <a:alphaModFix/>
          </a:blip>
          <a:stretch>
            <a:fillRect/>
          </a:stretch>
        </p:blipFill>
        <p:spPr>
          <a:xfrm>
            <a:off x="6825625" y="3536646"/>
            <a:ext cx="4591050" cy="1390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10"/>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2 · POINT 4</a:t>
            </a:r>
            <a:endParaRPr b="0" i="0" sz="1300" u="none" cap="none" strike="noStrike">
              <a:solidFill>
                <a:schemeClr val="dk1"/>
              </a:solidFill>
              <a:latin typeface="Calibri"/>
              <a:ea typeface="Calibri"/>
              <a:cs typeface="Calibri"/>
              <a:sym typeface="Calibri"/>
            </a:endParaRPr>
          </a:p>
        </p:txBody>
      </p:sp>
      <p:sp>
        <p:nvSpPr>
          <p:cNvPr id="198" name="Google Shape;198;p10"/>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Better inequality measures — reported honestly</a:t>
            </a:r>
            <a:endParaRPr b="0" i="0" sz="2900" u="none" cap="none" strike="noStrike">
              <a:solidFill>
                <a:schemeClr val="dk1"/>
              </a:solidFill>
              <a:latin typeface="Calibri"/>
              <a:ea typeface="Calibri"/>
              <a:cs typeface="Calibri"/>
              <a:sym typeface="Calibri"/>
            </a:endParaRPr>
          </a:p>
        </p:txBody>
      </p:sp>
      <p:sp>
        <p:nvSpPr>
          <p:cNvPr id="199" name="Google Shape;199;p10"/>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R2.4</a:t>
            </a:r>
            <a:endParaRPr b="0" i="0" sz="1200" u="none" cap="none" strike="noStrike">
              <a:solidFill>
                <a:schemeClr val="dk1"/>
              </a:solidFill>
              <a:latin typeface="Calibri"/>
              <a:ea typeface="Calibri"/>
              <a:cs typeface="Calibri"/>
              <a:sym typeface="Calibri"/>
            </a:endParaRPr>
          </a:p>
        </p:txBody>
      </p:sp>
      <p:sp>
        <p:nvSpPr>
          <p:cNvPr id="200" name="Google Shape;200;p10"/>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202" name="Google Shape;202;p10"/>
          <p:cNvSpPr/>
          <p:nvPr/>
        </p:nvSpPr>
        <p:spPr>
          <a:xfrm>
            <a:off x="548640" y="1481328"/>
            <a:ext cx="11064240" cy="841248"/>
          </a:xfrm>
          <a:prstGeom prst="rect">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731520" y="1481328"/>
            <a:ext cx="10698480" cy="8412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5A82"/>
              </a:buClr>
              <a:buSzPts val="1100"/>
              <a:buFont typeface="Calibri"/>
              <a:buNone/>
            </a:pPr>
            <a:r>
              <a:rPr b="1" i="0" lang="en-US" sz="1100" u="none" cap="none" strike="noStrike">
                <a:solidFill>
                  <a:srgbClr val="065A82"/>
                </a:solidFill>
                <a:latin typeface="Calibri"/>
                <a:ea typeface="Calibri"/>
                <a:cs typeface="Calibri"/>
                <a:sym typeface="Calibri"/>
              </a:rPr>
              <a:t>REVIEWER'S CONCERN   </a:t>
            </a:r>
            <a:r>
              <a:rPr b="0" i="1" lang="en-US" sz="1300" u="none" cap="none" strike="noStrike">
                <a:solidFill>
                  <a:srgbClr val="1A1A1A"/>
                </a:solidFill>
                <a:latin typeface="Calibri"/>
                <a:ea typeface="Calibri"/>
                <a:cs typeface="Calibri"/>
                <a:sym typeface="Calibri"/>
              </a:rPr>
              <a:t>“The paper relies only on the Gini coefficient — least sensitive precisely for fat-tailed wealth. Use Theil’s T or top wealth shares. Also: is Gini confounded by poor agents dying first?”</a:t>
            </a:r>
            <a:endParaRPr b="0" i="0" sz="1100" u="none" cap="none" strike="noStrike">
              <a:solidFill>
                <a:schemeClr val="dk1"/>
              </a:solidFill>
              <a:latin typeface="Calibri"/>
              <a:ea typeface="Calibri"/>
              <a:cs typeface="Calibri"/>
              <a:sym typeface="Calibri"/>
            </a:endParaRPr>
          </a:p>
        </p:txBody>
      </p:sp>
      <p:sp>
        <p:nvSpPr>
          <p:cNvPr id="204" name="Google Shape;204;p10"/>
          <p:cNvSpPr/>
          <p:nvPr/>
        </p:nvSpPr>
        <p:spPr>
          <a:xfrm>
            <a:off x="548640" y="2560320"/>
            <a:ext cx="5257800" cy="2468880"/>
          </a:xfrm>
          <a:prstGeom prst="roundRect">
            <a:avLst>
              <a:gd fmla="val 2963" name="adj"/>
            </a:avLst>
          </a:prstGeom>
          <a:solidFill>
            <a:srgbClr val="FBEDEC"/>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731520" y="267004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206" name="Google Shape;206;p10"/>
          <p:cNvSpPr/>
          <p:nvPr/>
        </p:nvSpPr>
        <p:spPr>
          <a:xfrm>
            <a:off x="3429000" y="2670048"/>
            <a:ext cx="21945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0392B"/>
              </a:buClr>
              <a:buSzPts val="1050"/>
              <a:buFont typeface="Calibri"/>
              <a:buNone/>
            </a:pPr>
            <a:r>
              <a:rPr b="1" i="1" lang="en-US" sz="1050" u="none" cap="none" strike="noStrike">
                <a:solidFill>
                  <a:srgbClr val="C0392B"/>
                </a:solidFill>
                <a:latin typeface="Calibri"/>
                <a:ea typeface="Calibri"/>
                <a:cs typeface="Calibri"/>
                <a:sym typeface="Calibri"/>
              </a:rPr>
              <a:t>v1 p.16 · §4.5</a:t>
            </a:r>
            <a:endParaRPr b="0" i="0" sz="1050" u="none" cap="none" strike="noStrike">
              <a:solidFill>
                <a:schemeClr val="dk1"/>
              </a:solidFill>
              <a:latin typeface="Calibri"/>
              <a:ea typeface="Calibri"/>
              <a:cs typeface="Calibri"/>
              <a:sym typeface="Calibri"/>
            </a:endParaRPr>
          </a:p>
        </p:txBody>
      </p:sp>
      <p:sp>
        <p:nvSpPr>
          <p:cNvPr id="207" name="Google Shape;207;p10"/>
          <p:cNvSpPr/>
          <p:nvPr/>
        </p:nvSpPr>
        <p:spPr>
          <a:xfrm>
            <a:off x="731520" y="3017520"/>
            <a:ext cx="489204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00"/>
              <a:buFont typeface="Calibri"/>
              <a:buNone/>
            </a:pPr>
            <a:r>
              <a:rPr b="0" i="1" lang="en-US" sz="1200" u="none" cap="none" strike="noStrike">
                <a:solidFill>
                  <a:srgbClr val="1A1A1A"/>
                </a:solidFill>
                <a:latin typeface="Calibri"/>
                <a:ea typeface="Calibri"/>
                <a:cs typeface="Calibri"/>
                <a:sym typeface="Calibri"/>
              </a:rPr>
              <a:t>Only the Gini coefficient — which barely moved, so the inequality story was weak and possibly misleading.</a:t>
            </a:r>
            <a:endParaRPr b="0" i="0" sz="1200" u="none" cap="none" strike="noStrike">
              <a:solidFill>
                <a:schemeClr val="dk1"/>
              </a:solidFill>
              <a:latin typeface="Calibri"/>
              <a:ea typeface="Calibri"/>
              <a:cs typeface="Calibri"/>
              <a:sym typeface="Calibri"/>
            </a:endParaRPr>
          </a:p>
        </p:txBody>
      </p:sp>
      <p:sp>
        <p:nvSpPr>
          <p:cNvPr id="208" name="Google Shape;208;p10"/>
          <p:cNvSpPr/>
          <p:nvPr/>
        </p:nvSpPr>
        <p:spPr>
          <a:xfrm>
            <a:off x="5824728" y="3474720"/>
            <a:ext cx="68580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7293"/>
              </a:buClr>
              <a:buSzPts val="3000"/>
              <a:buFont typeface="Calibri"/>
              <a:buNone/>
            </a:pPr>
            <a:r>
              <a:rPr b="1" i="0" lang="en-US" sz="3000" u="none" cap="none" strike="noStrike">
                <a:solidFill>
                  <a:srgbClr val="1C7293"/>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209" name="Google Shape;209;p10"/>
          <p:cNvSpPr/>
          <p:nvPr/>
        </p:nvSpPr>
        <p:spPr>
          <a:xfrm>
            <a:off x="6492240" y="2560320"/>
            <a:ext cx="5257800" cy="2468880"/>
          </a:xfrm>
          <a:prstGeom prst="roundRect">
            <a:avLst>
              <a:gd fmla="val 2963"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6675120" y="2670048"/>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7A46"/>
              </a:buClr>
              <a:buSzPts val="1100"/>
              <a:buFont typeface="Calibri"/>
              <a:buNone/>
            </a:pPr>
            <a:r>
              <a:rPr b="1" i="0" lang="en-US" sz="1100" u="none" cap="none" strike="noStrike">
                <a:solidFill>
                  <a:srgbClr val="1E7A46"/>
                </a:solidFill>
                <a:latin typeface="Calibri"/>
                <a:ea typeface="Calibri"/>
                <a:cs typeface="Calibri"/>
                <a:sym typeface="Calibri"/>
              </a:rPr>
              <a:t>AFTER</a:t>
            </a:r>
            <a:endParaRPr b="0" i="0" sz="1100" u="none" cap="none" strike="noStrike">
              <a:solidFill>
                <a:schemeClr val="dk1"/>
              </a:solidFill>
              <a:latin typeface="Calibri"/>
              <a:ea typeface="Calibri"/>
              <a:cs typeface="Calibri"/>
              <a:sym typeface="Calibri"/>
            </a:endParaRPr>
          </a:p>
        </p:txBody>
      </p:sp>
      <p:sp>
        <p:nvSpPr>
          <p:cNvPr id="211" name="Google Shape;211;p10"/>
          <p:cNvSpPr/>
          <p:nvPr/>
        </p:nvSpPr>
        <p:spPr>
          <a:xfrm>
            <a:off x="9555480" y="2670048"/>
            <a:ext cx="201168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E7A46"/>
              </a:buClr>
              <a:buSzPts val="1050"/>
              <a:buFont typeface="Calibri"/>
              <a:buNone/>
            </a:pPr>
            <a:r>
              <a:rPr b="1" i="1" lang="en-US" sz="1050" u="none" cap="none" strike="noStrike">
                <a:solidFill>
                  <a:srgbClr val="1E7A46"/>
                </a:solidFill>
                <a:latin typeface="Calibri"/>
                <a:ea typeface="Calibri"/>
                <a:cs typeface="Calibri"/>
                <a:sym typeface="Calibri"/>
              </a:rPr>
              <a:t>v2 p.22–25 · §4.5</a:t>
            </a:r>
            <a:endParaRPr b="0" i="0" sz="1050" u="none" cap="none" strike="noStrike">
              <a:solidFill>
                <a:schemeClr val="dk1"/>
              </a:solidFill>
              <a:latin typeface="Calibri"/>
              <a:ea typeface="Calibri"/>
              <a:cs typeface="Calibri"/>
              <a:sym typeface="Calibri"/>
            </a:endParaRPr>
          </a:p>
        </p:txBody>
      </p:sp>
      <p:sp>
        <p:nvSpPr>
          <p:cNvPr id="212" name="Google Shape;212;p10"/>
          <p:cNvSpPr/>
          <p:nvPr/>
        </p:nvSpPr>
        <p:spPr>
          <a:xfrm>
            <a:off x="6675120" y="3017520"/>
            <a:ext cx="489204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1A1A1A"/>
              </a:buClr>
              <a:buSzPts val="1200"/>
              <a:buFont typeface="Calibri"/>
              <a:buNone/>
            </a:pPr>
            <a:r>
              <a:rPr b="0" i="0" lang="en-US" sz="1200" u="none" cap="none" strike="noStrike">
                <a:solidFill>
                  <a:srgbClr val="1A1A1A"/>
                </a:solidFill>
                <a:latin typeface="Calibri"/>
                <a:ea typeface="Calibri"/>
                <a:cs typeface="Calibri"/>
                <a:sym typeface="Calibri"/>
              </a:rPr>
              <a:t>Added Theil’s T, top-10% shares, KS test, tail quantiles (Tables 3–4). Honest finding: DRL compresses top wealth on stable maps, but slightly WIDENS it on random maps — reported both ways.</a:t>
            </a:r>
            <a:endParaRPr b="0" i="0" sz="1200" u="none" cap="none" strike="noStrike">
              <a:solidFill>
                <a:schemeClr val="dk1"/>
              </a:solidFill>
              <a:latin typeface="Calibri"/>
              <a:ea typeface="Calibri"/>
              <a:cs typeface="Calibri"/>
              <a:sym typeface="Calibri"/>
            </a:endParaRPr>
          </a:p>
        </p:txBody>
      </p:sp>
      <p:sp>
        <p:nvSpPr>
          <p:cNvPr id="213" name="Google Shape;213;p10"/>
          <p:cNvSpPr/>
          <p:nvPr/>
        </p:nvSpPr>
        <p:spPr>
          <a:xfrm>
            <a:off x="548640" y="5257800"/>
            <a:ext cx="11064240" cy="868680"/>
          </a:xfrm>
          <a:prstGeom prst="roundRect">
            <a:avLst>
              <a:gd fmla="val 6316" name="adj"/>
            </a:avLst>
          </a:prstGeom>
          <a:solidFill>
            <a:srgbClr val="2129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777240" y="5257800"/>
            <a:ext cx="106070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FB4CC"/>
              </a:buClr>
              <a:buSzPts val="1100"/>
              <a:buFont typeface="Calibri"/>
              <a:buNone/>
            </a:pPr>
            <a:r>
              <a:rPr b="1" i="0" lang="en-US" sz="1100" u="none" cap="none" strike="noStrike">
                <a:solidFill>
                  <a:srgbClr val="9FB4CC"/>
                </a:solidFill>
                <a:latin typeface="Calibri"/>
                <a:ea typeface="Calibri"/>
                <a:cs typeface="Calibri"/>
                <a:sym typeface="Calibri"/>
              </a:rPr>
              <a:t>WHAT WE DID   </a:t>
            </a:r>
            <a:r>
              <a:rPr b="0" i="0" lang="en-US" sz="1350" u="none" cap="none" strike="noStrike">
                <a:solidFill>
                  <a:srgbClr val="FFFFFF"/>
                </a:solidFill>
                <a:latin typeface="Calibri"/>
                <a:ea typeface="Calibri"/>
                <a:cs typeface="Calibri"/>
                <a:sym typeface="Calibri"/>
              </a:rPr>
              <a:t>We added the tail-sensitive measures he asked for, and we answered the “do poor agents die first?” question with a survivorship note. Where the result is mixed, we say so plainly rather than spin it.</a:t>
            </a:r>
            <a:endParaRPr b="0" i="0" sz="1100" u="none" cap="none" strike="noStrike">
              <a:solidFill>
                <a:schemeClr val="dk1"/>
              </a:solidFill>
              <a:latin typeface="Calibri"/>
              <a:ea typeface="Calibri"/>
              <a:cs typeface="Calibri"/>
              <a:sym typeface="Calibri"/>
            </a:endParaRPr>
          </a:p>
        </p:txBody>
      </p:sp>
      <p:pic>
        <p:nvPicPr>
          <p:cNvPr id="215" name="Google Shape;215;p10" title="Screenshot 2026-08-07 at 8.30.46.png"/>
          <p:cNvPicPr preferRelativeResize="0"/>
          <p:nvPr/>
        </p:nvPicPr>
        <p:blipFill>
          <a:blip r:embed="rId3">
            <a:alphaModFix/>
          </a:blip>
          <a:stretch>
            <a:fillRect/>
          </a:stretch>
        </p:blipFill>
        <p:spPr>
          <a:xfrm>
            <a:off x="7130425" y="3675708"/>
            <a:ext cx="3981450" cy="1343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11"/>
          <p:cNvSpPr/>
          <p:nvPr/>
        </p:nvSpPr>
        <p:spPr>
          <a:xfrm>
            <a:off x="548640" y="384048"/>
            <a:ext cx="10058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7293"/>
              </a:buClr>
              <a:buSzPts val="1300"/>
              <a:buFont typeface="Calibri"/>
              <a:buNone/>
            </a:pPr>
            <a:r>
              <a:rPr b="1" i="0" lang="en-US" sz="1300" u="none" cap="none" strike="noStrike">
                <a:solidFill>
                  <a:srgbClr val="1C7293"/>
                </a:solidFill>
                <a:latin typeface="Calibri"/>
                <a:ea typeface="Calibri"/>
                <a:cs typeface="Calibri"/>
                <a:sym typeface="Calibri"/>
              </a:rPr>
              <a:t>REVIEWER 2 · POINTS 1, 2b &amp; 5</a:t>
            </a:r>
            <a:endParaRPr b="0" i="0" sz="1300" u="none" cap="none" strike="noStrike">
              <a:solidFill>
                <a:schemeClr val="dk1"/>
              </a:solidFill>
              <a:latin typeface="Calibri"/>
              <a:ea typeface="Calibri"/>
              <a:cs typeface="Calibri"/>
              <a:sym typeface="Calibri"/>
            </a:endParaRPr>
          </a:p>
        </p:txBody>
      </p:sp>
      <p:sp>
        <p:nvSpPr>
          <p:cNvPr id="222" name="Google Shape;222;p11"/>
          <p:cNvSpPr/>
          <p:nvPr/>
        </p:nvSpPr>
        <p:spPr>
          <a:xfrm>
            <a:off x="548640" y="658368"/>
            <a:ext cx="105156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2900"/>
              <a:buFont typeface="Cambria"/>
              <a:buNone/>
            </a:pPr>
            <a:r>
              <a:rPr b="1" i="0" lang="en-US" sz="2900" u="none" cap="none" strike="noStrike">
                <a:solidFill>
                  <a:srgbClr val="21295C"/>
                </a:solidFill>
                <a:latin typeface="Cambria"/>
                <a:ea typeface="Cambria"/>
                <a:cs typeface="Cambria"/>
                <a:sym typeface="Cambria"/>
              </a:rPr>
              <a:t>Three further fixes</a:t>
            </a:r>
            <a:endParaRPr b="0" i="0" sz="2900" u="none" cap="none" strike="noStrike">
              <a:solidFill>
                <a:schemeClr val="dk1"/>
              </a:solidFill>
              <a:latin typeface="Calibri"/>
              <a:ea typeface="Calibri"/>
              <a:cs typeface="Calibri"/>
              <a:sym typeface="Calibri"/>
            </a:endParaRPr>
          </a:p>
        </p:txBody>
      </p:sp>
      <p:sp>
        <p:nvSpPr>
          <p:cNvPr id="223" name="Google Shape;223;p11"/>
          <p:cNvSpPr/>
          <p:nvPr/>
        </p:nvSpPr>
        <p:spPr>
          <a:xfrm>
            <a:off x="11155680" y="384048"/>
            <a:ext cx="731520" cy="36576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R2</a:t>
            </a:r>
            <a:endParaRPr b="0" i="0" sz="1200" u="none" cap="none" strike="noStrike">
              <a:solidFill>
                <a:schemeClr val="dk1"/>
              </a:solidFill>
              <a:latin typeface="Calibri"/>
              <a:ea typeface="Calibri"/>
              <a:cs typeface="Calibri"/>
              <a:sym typeface="Calibri"/>
            </a:endParaRPr>
          </a:p>
        </p:txBody>
      </p:sp>
      <p:sp>
        <p:nvSpPr>
          <p:cNvPr id="224" name="Google Shape;224;p11"/>
          <p:cNvSpPr/>
          <p:nvPr/>
        </p:nvSpPr>
        <p:spPr>
          <a:xfrm>
            <a:off x="9601200" y="685800"/>
            <a:ext cx="2057400" cy="384048"/>
          </a:xfrm>
          <a:prstGeom prst="roundRect">
            <a:avLst>
              <a:gd fmla="val 23810" name="adj"/>
            </a:avLst>
          </a:prstGeom>
          <a:solidFill>
            <a:srgbClr val="EAF3EC"/>
          </a:solidFill>
          <a:ln cap="flat" cmpd="sng" w="12700">
            <a:solidFill>
              <a:srgbClr val="1E7A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9601200" y="685800"/>
            <a:ext cx="20574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7A46"/>
              </a:buClr>
              <a:buSzPts val="1050"/>
              <a:buFont typeface="Calibri"/>
              <a:buNone/>
            </a:pPr>
            <a:r>
              <a:rPr b="1" i="0" lang="en-US" sz="1050" u="none" cap="none" strike="noStrike">
                <a:solidFill>
                  <a:srgbClr val="1E7A46"/>
                </a:solidFill>
                <a:latin typeface="Calibri"/>
                <a:ea typeface="Calibri"/>
                <a:cs typeface="Calibri"/>
                <a:sym typeface="Calibri"/>
              </a:rPr>
              <a:t>ADDRESSED</a:t>
            </a:r>
            <a:endParaRPr b="0" i="0" sz="1050" u="none" cap="none" strike="noStrike">
              <a:solidFill>
                <a:schemeClr val="dk1"/>
              </a:solidFill>
              <a:latin typeface="Calibri"/>
              <a:ea typeface="Calibri"/>
              <a:cs typeface="Calibri"/>
              <a:sym typeface="Calibri"/>
            </a:endParaRPr>
          </a:p>
        </p:txBody>
      </p:sp>
      <p:sp>
        <p:nvSpPr>
          <p:cNvPr id="226" name="Google Shape;226;p11"/>
          <p:cNvSpPr/>
          <p:nvPr/>
        </p:nvSpPr>
        <p:spPr>
          <a:xfrm>
            <a:off x="548640" y="1600200"/>
            <a:ext cx="11064240" cy="1371600"/>
          </a:xfrm>
          <a:prstGeom prst="roundRect">
            <a:avLst>
              <a:gd fmla="val 4667" name="adj"/>
            </a:avLst>
          </a:prstGeom>
          <a:solidFill>
            <a:srgbClr val="FFFFFF"/>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777240" y="2011680"/>
            <a:ext cx="566928" cy="5486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777240" y="2011680"/>
            <a:ext cx="56692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229" name="Google Shape;229;p11"/>
          <p:cNvSpPr/>
          <p:nvPr/>
        </p:nvSpPr>
        <p:spPr>
          <a:xfrm>
            <a:off x="1554480" y="1728216"/>
            <a:ext cx="9921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Parameter-sharing limitation    ·    v2 p.29 (§5)</a:t>
            </a:r>
            <a:endParaRPr b="0" i="0" sz="1400" u="none" cap="none" strike="noStrike">
              <a:solidFill>
                <a:schemeClr val="dk1"/>
              </a:solidFill>
              <a:latin typeface="Calibri"/>
              <a:ea typeface="Calibri"/>
              <a:cs typeface="Calibri"/>
              <a:sym typeface="Calibri"/>
            </a:endParaRPr>
          </a:p>
        </p:txBody>
      </p:sp>
      <p:sp>
        <p:nvSpPr>
          <p:cNvPr id="230" name="Google Shape;230;p11"/>
          <p:cNvSpPr/>
          <p:nvPr/>
        </p:nvSpPr>
        <p:spPr>
          <a:xfrm>
            <a:off x="1554480" y="2148840"/>
            <a:ext cx="9921240" cy="73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Added a limitation citing de Witt (2020) and flagged an IPPO benchmark as future work — the reviewer asked us to review it, and we do.</a:t>
            </a:r>
            <a:endParaRPr b="0" i="0" sz="1250" u="none" cap="none" strike="noStrike">
              <a:solidFill>
                <a:schemeClr val="dk1"/>
              </a:solidFill>
              <a:latin typeface="Calibri"/>
              <a:ea typeface="Calibri"/>
              <a:cs typeface="Calibri"/>
              <a:sym typeface="Calibri"/>
            </a:endParaRPr>
          </a:p>
        </p:txBody>
      </p:sp>
      <p:sp>
        <p:nvSpPr>
          <p:cNvPr id="231" name="Google Shape;231;p11"/>
          <p:cNvSpPr/>
          <p:nvPr/>
        </p:nvSpPr>
        <p:spPr>
          <a:xfrm>
            <a:off x="548640" y="3136392"/>
            <a:ext cx="11064240" cy="1371600"/>
          </a:xfrm>
          <a:prstGeom prst="roundRect">
            <a:avLst>
              <a:gd fmla="val 4667" name="adj"/>
            </a:avLst>
          </a:prstGeom>
          <a:solidFill>
            <a:srgbClr val="E8F0F5"/>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777240" y="3547872"/>
            <a:ext cx="566928" cy="5486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777240" y="3547872"/>
            <a:ext cx="56692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2b</a:t>
            </a:r>
            <a:endParaRPr b="0" i="0" sz="1500" u="none" cap="none" strike="noStrike">
              <a:solidFill>
                <a:schemeClr val="dk1"/>
              </a:solidFill>
              <a:latin typeface="Calibri"/>
              <a:ea typeface="Calibri"/>
              <a:cs typeface="Calibri"/>
              <a:sym typeface="Calibri"/>
            </a:endParaRPr>
          </a:p>
        </p:txBody>
      </p:sp>
      <p:sp>
        <p:nvSpPr>
          <p:cNvPr id="234" name="Google Shape;234;p11"/>
          <p:cNvSpPr/>
          <p:nvPr/>
        </p:nvSpPr>
        <p:spPr>
          <a:xfrm>
            <a:off x="1554480" y="3264408"/>
            <a:ext cx="9921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Convergence claim clarified    ·    v1 p.11  →  v2 p.15 (§3.7)</a:t>
            </a:r>
            <a:endParaRPr b="0" i="0" sz="1400" u="none" cap="none" strike="noStrike">
              <a:solidFill>
                <a:schemeClr val="dk1"/>
              </a:solidFill>
              <a:latin typeface="Calibri"/>
              <a:ea typeface="Calibri"/>
              <a:cs typeface="Calibri"/>
              <a:sym typeface="Calibri"/>
            </a:endParaRPr>
          </a:p>
        </p:txBody>
      </p:sp>
      <p:sp>
        <p:nvSpPr>
          <p:cNvPr id="235" name="Google Shape;235;p11"/>
          <p:cNvSpPr/>
          <p:nvPr/>
        </p:nvSpPr>
        <p:spPr>
          <a:xfrm>
            <a:off x="1554480" y="3685032"/>
            <a:ext cx="9921240" cy="73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Explained the high variance comes from averaging over 500 different agents — not instability — and rested the claim on the reward TREND and entropy, not raw variance.</a:t>
            </a:r>
            <a:endParaRPr b="0" i="0" sz="1250" u="none" cap="none" strike="noStrike">
              <a:solidFill>
                <a:schemeClr val="dk1"/>
              </a:solidFill>
              <a:latin typeface="Calibri"/>
              <a:ea typeface="Calibri"/>
              <a:cs typeface="Calibri"/>
              <a:sym typeface="Calibri"/>
            </a:endParaRPr>
          </a:p>
        </p:txBody>
      </p:sp>
      <p:sp>
        <p:nvSpPr>
          <p:cNvPr id="236" name="Google Shape;236;p11"/>
          <p:cNvSpPr/>
          <p:nvPr/>
        </p:nvSpPr>
        <p:spPr>
          <a:xfrm>
            <a:off x="548640" y="4672584"/>
            <a:ext cx="11064240" cy="1371600"/>
          </a:xfrm>
          <a:prstGeom prst="roundRect">
            <a:avLst>
              <a:gd fmla="val 4667" name="adj"/>
            </a:avLst>
          </a:prstGeom>
          <a:solidFill>
            <a:srgbClr val="FFFFFF"/>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777240" y="5084064"/>
            <a:ext cx="566928" cy="548640"/>
          </a:xfrm>
          <a:prstGeom prst="ellipse">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a:off x="777240" y="5084064"/>
            <a:ext cx="56692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5</a:t>
            </a:r>
            <a:endParaRPr b="0" i="0" sz="1500" u="none" cap="none" strike="noStrike">
              <a:solidFill>
                <a:schemeClr val="dk1"/>
              </a:solidFill>
              <a:latin typeface="Calibri"/>
              <a:ea typeface="Calibri"/>
              <a:cs typeface="Calibri"/>
              <a:sym typeface="Calibri"/>
            </a:endParaRPr>
          </a:p>
        </p:txBody>
      </p:sp>
      <p:sp>
        <p:nvSpPr>
          <p:cNvPr id="239" name="Google Shape;239;p11"/>
          <p:cNvSpPr/>
          <p:nvPr/>
        </p:nvSpPr>
        <p:spPr>
          <a:xfrm>
            <a:off x="1554480" y="4800600"/>
            <a:ext cx="9921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1295C"/>
              </a:buClr>
              <a:buSzPts val="1400"/>
              <a:buFont typeface="Calibri"/>
              <a:buNone/>
            </a:pPr>
            <a:r>
              <a:rPr b="1" i="0" lang="en-US" sz="1400" u="none" cap="none" strike="noStrike">
                <a:solidFill>
                  <a:srgbClr val="21295C"/>
                </a:solidFill>
                <a:latin typeface="Calibri"/>
                <a:ea typeface="Calibri"/>
                <a:cs typeface="Calibri"/>
                <a:sym typeface="Calibri"/>
              </a:rPr>
              <a:t>Game-AI over-claim removed    ·    v1 p.19  →  v2 p.2</a:t>
            </a:r>
            <a:r>
              <a:rPr b="1" lang="en-US">
                <a:solidFill>
                  <a:srgbClr val="21295C"/>
                </a:solidFill>
                <a:latin typeface="Calibri"/>
                <a:ea typeface="Calibri"/>
                <a:cs typeface="Calibri"/>
                <a:sym typeface="Calibri"/>
              </a:rPr>
              <a:t>8</a:t>
            </a:r>
            <a:r>
              <a:rPr b="1" i="0" lang="en-US" sz="1400" u="none" cap="none" strike="noStrike">
                <a:solidFill>
                  <a:srgbClr val="21295C"/>
                </a:solidFill>
                <a:latin typeface="Calibri"/>
                <a:ea typeface="Calibri"/>
                <a:cs typeface="Calibri"/>
                <a:sym typeface="Calibri"/>
              </a:rPr>
              <a:t> (§5.1)</a:t>
            </a:r>
            <a:endParaRPr b="0" i="0" sz="1400" u="none" cap="none" strike="noStrike">
              <a:solidFill>
                <a:schemeClr val="dk1"/>
              </a:solidFill>
              <a:latin typeface="Calibri"/>
              <a:ea typeface="Calibri"/>
              <a:cs typeface="Calibri"/>
              <a:sym typeface="Calibri"/>
            </a:endParaRPr>
          </a:p>
        </p:txBody>
      </p:sp>
      <p:sp>
        <p:nvSpPr>
          <p:cNvPr id="240" name="Google Shape;240;p11"/>
          <p:cNvSpPr/>
          <p:nvPr/>
        </p:nvSpPr>
        <p:spPr>
          <a:xfrm>
            <a:off x="1554480" y="5221224"/>
            <a:ext cx="9921240" cy="73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1A1A"/>
              </a:buClr>
              <a:buSzPts val="1250"/>
              <a:buFont typeface="Calibri"/>
              <a:buNone/>
            </a:pPr>
            <a:r>
              <a:rPr b="0" i="0" lang="en-US" sz="1250" u="none" cap="none" strike="noStrike">
                <a:solidFill>
                  <a:srgbClr val="1A1A1A"/>
                </a:solidFill>
                <a:latin typeface="Calibri"/>
                <a:ea typeface="Calibri"/>
                <a:cs typeface="Calibri"/>
                <a:sym typeface="Calibri"/>
              </a:rPr>
              <a:t>Removed the subsection; condensed to one cautious sentence acknowledging the gap — exactly as the reviewer requested.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2E12"/>
        </a:solidFill>
      </p:bgPr>
    </p:bg>
    <p:spTree>
      <p:nvGrpSpPr>
        <p:cNvPr id="245" name="Shape 245"/>
        <p:cNvGrpSpPr/>
        <p:nvPr/>
      </p:nvGrpSpPr>
      <p:grpSpPr>
        <a:xfrm>
          <a:off x="0" y="0"/>
          <a:ext cx="0" cy="0"/>
          <a:chOff x="0" y="0"/>
          <a:chExt cx="0" cy="0"/>
        </a:xfrm>
      </p:grpSpPr>
      <p:sp>
        <p:nvSpPr>
          <p:cNvPr id="246" name="Google Shape;246;p12"/>
          <p:cNvSpPr/>
          <p:nvPr/>
        </p:nvSpPr>
        <p:spPr>
          <a:xfrm>
            <a:off x="731520" y="548640"/>
            <a:ext cx="10515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C87A"/>
              </a:buClr>
              <a:buSzPts val="1400"/>
              <a:buFont typeface="Calibri"/>
              <a:buNone/>
            </a:pPr>
            <a:r>
              <a:rPr b="1" i="0" lang="en-US" sz="1400" u="none" cap="none" strike="noStrike">
                <a:solidFill>
                  <a:srgbClr val="E8C87A"/>
                </a:solidFill>
                <a:latin typeface="Calibri"/>
                <a:ea typeface="Calibri"/>
                <a:cs typeface="Calibri"/>
                <a:sym typeface="Calibri"/>
              </a:rPr>
              <a:t>THE ONE OPEN POINT — YOUR GUIDANCE, PLEASE</a:t>
            </a:r>
            <a:endParaRPr b="0" i="0" sz="1400" u="none" cap="none" strike="noStrike">
              <a:solidFill>
                <a:schemeClr val="dk1"/>
              </a:solidFill>
              <a:latin typeface="Calibri"/>
              <a:ea typeface="Calibri"/>
              <a:cs typeface="Calibri"/>
              <a:sym typeface="Calibri"/>
            </a:endParaRPr>
          </a:p>
        </p:txBody>
      </p:sp>
      <p:sp>
        <p:nvSpPr>
          <p:cNvPr id="247" name="Google Shape;247;p12"/>
          <p:cNvSpPr/>
          <p:nvPr/>
        </p:nvSpPr>
        <p:spPr>
          <a:xfrm>
            <a:off x="731520" y="960120"/>
            <a:ext cx="1069848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Reviewer 2: “report results across ≥ 5 independent training seeds”</a:t>
            </a:r>
            <a:endParaRPr b="0" i="0" sz="2600" u="none" cap="none" strike="noStrike">
              <a:solidFill>
                <a:schemeClr val="dk1"/>
              </a:solidFill>
              <a:latin typeface="Calibri"/>
              <a:ea typeface="Calibri"/>
              <a:cs typeface="Calibri"/>
              <a:sym typeface="Calibri"/>
            </a:endParaRPr>
          </a:p>
        </p:txBody>
      </p:sp>
      <p:sp>
        <p:nvSpPr>
          <p:cNvPr id="248" name="Google Shape;248;p12"/>
          <p:cNvSpPr/>
          <p:nvPr/>
        </p:nvSpPr>
        <p:spPr>
          <a:xfrm>
            <a:off x="548640" y="1874520"/>
            <a:ext cx="5394960" cy="2331720"/>
          </a:xfrm>
          <a:prstGeom prst="roundRect">
            <a:avLst>
              <a:gd fmla="val 3137" name="adj"/>
            </a:avLst>
          </a:prstGeom>
          <a:solidFill>
            <a:srgbClr val="4A3B18"/>
          </a:solidFill>
          <a:ln cap="flat" cmpd="sng" w="12700">
            <a:solidFill>
              <a:srgbClr val="E8C8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777240" y="2011680"/>
            <a:ext cx="4937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C87A"/>
              </a:buClr>
              <a:buSzPts val="1400"/>
              <a:buFont typeface="Calibri"/>
              <a:buNone/>
            </a:pPr>
            <a:r>
              <a:rPr b="1" i="0" lang="en-US" sz="1400" u="none" cap="none" strike="noStrike">
                <a:solidFill>
                  <a:srgbClr val="E8C87A"/>
                </a:solidFill>
                <a:latin typeface="Calibri"/>
                <a:ea typeface="Calibri"/>
                <a:cs typeface="Calibri"/>
                <a:sym typeface="Calibri"/>
              </a:rPr>
              <a:t>The gap</a:t>
            </a:r>
            <a:endParaRPr b="0" i="0" sz="1400" u="none" cap="none" strike="noStrike">
              <a:solidFill>
                <a:schemeClr val="dk1"/>
              </a:solidFill>
              <a:latin typeface="Calibri"/>
              <a:ea typeface="Calibri"/>
              <a:cs typeface="Calibri"/>
              <a:sym typeface="Calibri"/>
            </a:endParaRPr>
          </a:p>
        </p:txBody>
      </p:sp>
      <p:sp>
        <p:nvSpPr>
          <p:cNvPr id="250" name="Google Shape;250;p12"/>
          <p:cNvSpPr/>
          <p:nvPr/>
        </p:nvSpPr>
        <p:spPr>
          <a:xfrm>
            <a:off x="777240" y="2423160"/>
            <a:ext cx="4937760" cy="16459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5EAD0"/>
              </a:buClr>
              <a:buSzPts val="1350"/>
              <a:buFont typeface="Calibri"/>
              <a:buNone/>
            </a:pPr>
            <a:r>
              <a:rPr b="0" i="0" lang="en-US" sz="1350" u="none" cap="none" strike="noStrike">
                <a:solidFill>
                  <a:srgbClr val="F5EAD0"/>
                </a:solidFill>
                <a:latin typeface="Calibri"/>
                <a:ea typeface="Calibri"/>
                <a:cs typeface="Calibri"/>
                <a:sym typeface="Calibri"/>
              </a:rPr>
              <a:t>Our 50 runs vary the ENVIRONMENT seed for ONE trained policy. That shows the policy generalizes across maps — but it does NOT test whether TRAINING is stable across seeds, which is what he asked.</a:t>
            </a:r>
            <a:endParaRPr b="0" i="0" sz="1350" u="none" cap="none" strike="noStrike">
              <a:solidFill>
                <a:schemeClr val="dk1"/>
              </a:solidFill>
              <a:latin typeface="Calibri"/>
              <a:ea typeface="Calibri"/>
              <a:cs typeface="Calibri"/>
              <a:sym typeface="Calibri"/>
            </a:endParaRPr>
          </a:p>
        </p:txBody>
      </p:sp>
      <p:sp>
        <p:nvSpPr>
          <p:cNvPr id="251" name="Google Shape;251;p12"/>
          <p:cNvSpPr/>
          <p:nvPr/>
        </p:nvSpPr>
        <p:spPr>
          <a:xfrm>
            <a:off x="6217920" y="1874520"/>
            <a:ext cx="5394960" cy="2331720"/>
          </a:xfrm>
          <a:prstGeom prst="roundRect">
            <a:avLst>
              <a:gd fmla="val 3137" name="adj"/>
            </a:avLst>
          </a:prstGeom>
          <a:solidFill>
            <a:srgbClr val="4A3B18"/>
          </a:solidFill>
          <a:ln cap="flat" cmpd="sng" w="12700">
            <a:solidFill>
              <a:srgbClr val="E8C8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6446520" y="2011680"/>
            <a:ext cx="49377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C87A"/>
              </a:buClr>
              <a:buSzPts val="1400"/>
              <a:buFont typeface="Calibri"/>
              <a:buNone/>
            </a:pPr>
            <a:r>
              <a:rPr b="1" i="0" lang="en-US" sz="1400" u="none" cap="none" strike="noStrike">
                <a:solidFill>
                  <a:srgbClr val="E8C87A"/>
                </a:solidFill>
                <a:latin typeface="Calibri"/>
                <a:ea typeface="Calibri"/>
                <a:cs typeface="Calibri"/>
                <a:sym typeface="Calibri"/>
              </a:rPr>
              <a:t>Why we can’t fully close it now</a:t>
            </a:r>
            <a:endParaRPr b="0" i="0" sz="1400" u="none" cap="none" strike="noStrike">
              <a:solidFill>
                <a:schemeClr val="dk1"/>
              </a:solidFill>
              <a:latin typeface="Calibri"/>
              <a:ea typeface="Calibri"/>
              <a:cs typeface="Calibri"/>
              <a:sym typeface="Calibri"/>
            </a:endParaRPr>
          </a:p>
        </p:txBody>
      </p:sp>
      <p:sp>
        <p:nvSpPr>
          <p:cNvPr id="253" name="Google Shape;253;p12"/>
          <p:cNvSpPr/>
          <p:nvPr/>
        </p:nvSpPr>
        <p:spPr>
          <a:xfrm>
            <a:off x="6446520" y="2423160"/>
            <a:ext cx="4937760" cy="16459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5EAD0"/>
              </a:buClr>
              <a:buSzPts val="1350"/>
              <a:buFont typeface="Calibri"/>
              <a:buNone/>
            </a:pPr>
            <a:r>
              <a:rPr b="0" i="0" lang="en-US" sz="1350" u="none" cap="none" strike="noStrike">
                <a:solidFill>
                  <a:srgbClr val="F5EAD0"/>
                </a:solidFill>
                <a:latin typeface="Calibri"/>
                <a:ea typeface="Calibri"/>
                <a:cs typeface="Calibri"/>
                <a:sym typeface="Calibri"/>
              </a:rPr>
              <a:t>Retraining 5 policies from scratch takes ~2 weeks of compute. The resubmission deadline is next week. It cannot be done in time.</a:t>
            </a:r>
            <a:endParaRPr b="0" i="0" sz="1350" u="none" cap="none" strike="noStrike">
              <a:solidFill>
                <a:schemeClr val="dk1"/>
              </a:solidFill>
              <a:latin typeface="Calibri"/>
              <a:ea typeface="Calibri"/>
              <a:cs typeface="Calibri"/>
              <a:sym typeface="Calibri"/>
            </a:endParaRPr>
          </a:p>
        </p:txBody>
      </p:sp>
      <p:sp>
        <p:nvSpPr>
          <p:cNvPr id="254" name="Google Shape;254;p12"/>
          <p:cNvSpPr/>
          <p:nvPr/>
        </p:nvSpPr>
        <p:spPr>
          <a:xfrm>
            <a:off x="548640" y="4389120"/>
            <a:ext cx="11064240" cy="960120"/>
          </a:xfrm>
          <a:prstGeom prst="roundRect">
            <a:avLst>
              <a:gd fmla="val 6667" name="adj"/>
            </a:avLst>
          </a:prstGeom>
          <a:solidFill>
            <a:srgbClr val="1E7A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777240" y="4389120"/>
            <a:ext cx="1060704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CDEBD6"/>
              </a:buClr>
              <a:buSzPts val="1350"/>
              <a:buFont typeface="Calibri"/>
              <a:buNone/>
            </a:pPr>
            <a:r>
              <a:rPr b="1" i="0" lang="en-US" sz="1350" u="none" cap="none" strike="noStrike">
                <a:solidFill>
                  <a:srgbClr val="CDEBD6"/>
                </a:solidFill>
                <a:latin typeface="Calibri"/>
                <a:ea typeface="Calibri"/>
                <a:cs typeface="Calibri"/>
                <a:sym typeface="Calibri"/>
              </a:rPr>
              <a:t>OUR APPROACH   </a:t>
            </a:r>
            <a:r>
              <a:rPr b="0" i="0" lang="en-US" sz="1350" u="none" cap="none" strike="noStrike">
                <a:solidFill>
                  <a:srgbClr val="FFFFFF"/>
                </a:solidFill>
                <a:latin typeface="Calibri"/>
                <a:ea typeface="Calibri"/>
                <a:cs typeface="Calibri"/>
                <a:sym typeface="Calibri"/>
              </a:rPr>
              <a:t>State it openly as a limitation and the top future-work priority — rather than imply we did it. The methods (v2 p.14, §3.6) now say plainly: one trained policy, 50 environment seeds; limitation stated at v2 p.28 (§5).</a:t>
            </a:r>
            <a:endParaRPr b="0" i="0" sz="1350" u="none" cap="none" strike="noStrike">
              <a:solidFill>
                <a:schemeClr val="dk1"/>
              </a:solidFill>
              <a:latin typeface="Calibri"/>
              <a:ea typeface="Calibri"/>
              <a:cs typeface="Calibri"/>
              <a:sym typeface="Calibri"/>
            </a:endParaRPr>
          </a:p>
        </p:txBody>
      </p:sp>
      <p:sp>
        <p:nvSpPr>
          <p:cNvPr id="256" name="Google Shape;256;p12"/>
          <p:cNvSpPr/>
          <p:nvPr/>
        </p:nvSpPr>
        <p:spPr>
          <a:xfrm>
            <a:off x="548640" y="5577840"/>
            <a:ext cx="110642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C87A"/>
              </a:buClr>
              <a:buSzPts val="1800"/>
              <a:buFont typeface="Cambria"/>
              <a:buNone/>
            </a:pPr>
            <a:r>
              <a:rPr b="1" i="1" lang="en-US" sz="1800">
                <a:solidFill>
                  <a:srgbClr val="E8C87A"/>
                </a:solidFill>
                <a:latin typeface="Cambria"/>
                <a:ea typeface="Cambria"/>
                <a:cs typeface="Cambria"/>
                <a:sym typeface="Cambria"/>
              </a:rPr>
              <a:t>S</a:t>
            </a:r>
            <a:r>
              <a:rPr b="1" i="1" lang="en-US" sz="1800" u="none" cap="none" strike="noStrike">
                <a:solidFill>
                  <a:srgbClr val="E8C87A"/>
                </a:solidFill>
                <a:latin typeface="Cambria"/>
                <a:ea typeface="Cambria"/>
                <a:cs typeface="Cambria"/>
                <a:sym typeface="Cambria"/>
              </a:rPr>
              <a:t>ubmit now with the honest limitation  —  or  request a deadline extension to run the 5 seeds?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2026-08-06T12:47:37Z</dcterms:created>
  <dc:creator>Thanh Binh Lai</dc:creator>
</cp:coreProperties>
</file>